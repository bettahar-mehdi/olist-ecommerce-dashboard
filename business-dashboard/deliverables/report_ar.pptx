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FFF"/>
                </a:solidFill>
              </a:defRPr>
            </a:pPr>
            <a:r>
              <a:rPr sz="4400" b="1">
                <a:solidFill>
                  <a:srgbClr val="00BFFF"/>
                </a:solidFill>
              </a:rPr>
              <a:t>التقرير الإحصائي</a:t>
            </a:r>
            <a:br/>
            <a:r>
              <a:t>للتجارة الإلكترونية أوليست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rPr sz="2400" b="0">
                <a:solidFill>
                  <a:srgbClr val="CCCCCC"/>
                </a:solidFill>
              </a:rPr>
              <a:t>تحليل معمق للبيانات | 2016-2018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rPr sz="1600" b="0">
                <a:solidFill>
                  <a:srgbClr val="999999"/>
                </a:solidFill>
              </a:rPr>
              <a:t>التاريخ: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FFF"/>
                </a:solidFill>
              </a:defRPr>
            </a:pPr>
            <a:r>
              <a:rPr sz="3200" b="1">
                <a:solidFill>
                  <a:srgbClr val="00BFFF"/>
                </a:solidFill>
              </a:rPr>
              <a:t>الملخص التنفيذي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114800" cy="20116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rPr sz="1600" b="0">
                <a:solidFill>
                  <a:srgbClr val="AAAAAA"/>
                </a:solidFill>
              </a:rPr>
              <a:t>إجمالي الإيرادات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BFFF"/>
                </a:solidFill>
              </a:defRPr>
            </a:pPr>
            <a:r>
              <a:rPr sz="3000" b="1">
                <a:solidFill>
                  <a:srgbClr val="00BFFF"/>
                </a:solidFill>
              </a:rPr>
              <a:t>R$ 16,401,227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188720"/>
            <a:ext cx="4114800" cy="20116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371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rPr sz="1600" b="0">
                <a:solidFill>
                  <a:srgbClr val="AAAAAA"/>
                </a:solidFill>
              </a:rPr>
              <a:t>إجمالي الطلبات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E676"/>
                </a:solidFill>
              </a:defRPr>
            </a:pPr>
            <a:r>
              <a:rPr sz="3000" b="1">
                <a:solidFill>
                  <a:srgbClr val="00E676"/>
                </a:solidFill>
              </a:rPr>
              <a:t>100,196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4114800" cy="20116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rPr sz="1600" b="0">
                <a:solidFill>
                  <a:srgbClr val="AAAAAA"/>
                </a:solidFill>
              </a:rPr>
              <a:t>متوسط قيمة الطلب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07"/>
                </a:solidFill>
              </a:defRPr>
            </a:pPr>
            <a:r>
              <a:rPr sz="3000" b="1">
                <a:solidFill>
                  <a:srgbClr val="FFC107"/>
                </a:solidFill>
              </a:rPr>
              <a:t>R$ 163.69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474720"/>
            <a:ext cx="4114800" cy="20116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657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rPr sz="1600" b="0">
                <a:solidFill>
                  <a:srgbClr val="AAAAAA"/>
                </a:solidFill>
              </a:rPr>
              <a:t>متوسط التقييم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4444"/>
                </a:solidFill>
              </a:defRPr>
            </a:pPr>
            <a:r>
              <a:rPr sz="3000" b="1">
                <a:solidFill>
                  <a:srgbClr val="FF4444"/>
                </a:solidFill>
              </a:rPr>
              <a:t>4.1/5.0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8229600" cy="914400"/>
          </a:xfrm>
          <a:prstGeom prst="roundRect">
            <a:avLst/>
          </a:prstGeom>
          <a:solidFill>
            <a:srgbClr val="222244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rPr sz="1400" b="0">
                <a:solidFill>
                  <a:srgbClr val="CCCCCC"/>
                </a:solidFill>
              </a:rPr>
              <a:t>يغطي هذا التحليل 100,196 طلب من 93,263 عميل فريد خلال الفترة من 2016-09-15 إلى 2018-08-29. إجمالي الإيرادات R$ 16,401,227 مع نمو بنسبة 1.2% بين النصف الأول والثاني من الفترة.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اتجاه الإيرادات الشهرية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يوضح الرسم البياني تطور الإيرادات الشهرية. نلاحظ اتجاهًا عامًا صاعدًا مع نمو بنسبة 1.2% بين النصفين. بلغت الذروة R$ 1,244,124 في شهر واحد.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التوزيع الإقليمي (أفضل 10 ولايات)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تهيمن ولاية SP بنسبة 36.2% من الإيرادات، تليها RJ و MG. هذا يوضح تركيزًا جغرافيًا قويًا: الولايات الثلاث الأولى تمثل أكثر من 60% من الإيرادات.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توزيع الفئات (أفضل 10)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الفئة 'beleza_saude' هي الأكثر أداءً بنسبة 8.9% من الإيرادات. أفضل 3 فئات تمثل حوالي 30% من الإيرادات. يوجد 74 فئة إجمالاً، مما يوفر فرصًا متعددة للتطوير.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حجم الطلبات حسب الشهر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حجم الطلبات يتبع نفس اتجاه الإيرادات. الحد الأقصى: 7,616 طلب في شهر واحد. المتوسط الشهري: 4,356 طلب.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رضا العملاء (التقييمات)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متوسط التقييم 4.13/5.0. 78.2% من الطلبات حصلت على تقييم 4 أو 5 نجوم، مما يشير إلى رضا العملاء. التقييمات المنخفضة (1-2) تمثل فقط 21.8% من الإجمالي.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تحليل وسائل الدفع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بطاقة الائتمان هي وسيلة الدفع المهيمنة بنسبة 78.5% من الإيرادات. الطرق الأخرى (boleto, voucher, debit card) تشارك في الباقي. هذا يعكس تفضيل العملاء للدفع بالتقسيط.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العلاقة بين السعر والشحن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الارتباط بين السعر والشحن هو 0.418، مما يشير إلى علاقة متوسطة. متوسط الشحن R$ 20.07 مقابل متوسط السعر R$ 123.75.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الإيرادات حسب اليوم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يوضح الرسم الإيرادات حسب أيام الأسبوع. هذا يساعد في تحسين الحملات التسويقية وإدارة المخزون. الفرق بين أفضل وأسوأ يوم هو 47.2%.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أفضل 10 مدن من حيث الإيرادات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sao paulo هي المدينة التي تولد أكبر إيرادات. التركز في المدن الكبرى البرازيلية ملحوظ. أفضل 5 مدن تمثل حوالي 30% من الإيرادات الوطنية.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توزيع قيم الطلبات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185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توزيع قيم الطلبات ملتوي نحو اليمين. الوسيط R$ 107.78 والمتوسط R$ 163.69. المئين 95 عند R$ 460.61، أي أن 95% الطلبات أقل من ذلك.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ملخص إحصائي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429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المقياس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القيمة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إجمالي الإيرادات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R$ 16,401,227.35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عدد الطلبات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100,196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المتوسط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R$ 163.69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متوسط التقييم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4.13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المئين 25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R$ 63.09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الوسيط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R$ 107.78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المئين 75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R$ 181.71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المئين 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R$ 460.61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ارتباط السعر-الشحن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0.418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العملاء الفريدون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93,263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الفئات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74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03520"/>
            <a:ext cx="8229600" cy="118872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يلخص هذا الجدول الإحصائيات الوصفية الرئيسية. تظهر المئينات توزيع الإيرادات: 50% من الطلبات أقل من R$ 107.78 و75% أقل من R$ 181.71.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أفضل 10 ولايات - تفاصيل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40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الولاية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الإيرادات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الطلبات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متوسط التقييم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النسبة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SP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R$ 5,945,409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40650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36.2%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R$ 2,102,811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12351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12.8%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MG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R$ 1,863,756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11392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11.4%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R$ 879,775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5346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5.4%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PR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R$ 805,523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4918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R$ 610,993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3.7%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BA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R$ 605,816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3271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3.9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R$ 364,613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2095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2.2%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GO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R$ 347,271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1969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R$ 322,507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2.0%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03520"/>
            <a:ext cx="8229600" cy="118872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أفضل 10 ولايات تمثل معظم الإيرادات. ولاية SP تهيمن بأكبر حصة. التقييمات العامة مرتفعة في جميع الولايات.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BFFF"/>
                </a:solidFill>
              </a:defRPr>
            </a:pPr>
            <a:r>
              <a:rPr sz="2600" b="1">
                <a:solidFill>
                  <a:srgbClr val="00BFFF"/>
                </a:solidFill>
              </a:rPr>
              <a:t>أفضل 10 فئات - تفاصيل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40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الفئة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الإيرادات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الطلبات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متوسط السعر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متوسط التقييم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النسبة</a:t>
                      </a:r>
                    </a:p>
                  </a:txBody>
                  <a:tcPr>
                    <a:solidFill>
                      <a:srgbClr val="00609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beleza_saude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R$ 1,464,559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8830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R$ 134.62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cama_mesa_banho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R$ 1,438,797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10009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R$ 94.98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8.8%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relogios_presentes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R$ 1,309,971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5670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R$ 202.63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esporte_lazer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R$ 1,164,465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7666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R$ 117.09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7.1%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informatica_acessorios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R$ 1,119,677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6724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R$ 116.81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moveis_decoracao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R$ 999,769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6636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R$ 93.16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6.1%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utilidades_domesticas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R$ 803,939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5878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R$ 95.00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cool_stuff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R$ 708,357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R$ 167.26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4.3%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automotivo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R$ 700,780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3902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R$ 141.07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4.1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222244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ferramentas_jardim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R$ 604,316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R$ 119.62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DDDDD"/>
                          </a:solidFill>
                        </a:defRPr>
                      </a:pPr>
                      <a:r>
                        <a:rPr sz="1300" b="0">
                          <a:solidFill>
                            <a:srgbClr val="DDDDDD"/>
                          </a:solidFill>
                        </a:rPr>
                        <a:t>3.7%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03520"/>
            <a:ext cx="8229600" cy="1188720"/>
          </a:xfrm>
          <a:prstGeom prst="roundRect">
            <a:avLst/>
          </a:prstGeom>
          <a:solidFill>
            <a:srgbClr val="222244"/>
          </a:solidFill>
          <a:ln w="127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DDDDD"/>
                </a:solidFill>
              </a:defRPr>
            </a:pPr>
            <a:r>
              <a:rPr sz="1500" b="0">
                <a:solidFill>
                  <a:srgbClr val="DDDDDD"/>
                </a:solidFill>
              </a:rPr>
              <a:t>الفئة الرائدة 'beleza_saude' بنسبة 8.9%. الأسعار تختلف بشكل كبير بين الفئات. الرضا العام جيد في جميع الفئات.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" cy="5029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النتائج الرئيسية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تركيز إقليمي: SP تمثل 36.2% من الإيرادات، مما يظهر اعتمادًا جغرافيًا كبيرًا.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النمو: النمو بنسبة 1.2% بين النصفين يشير إلى سوق متسع.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الدفع: بطاقة الائتمان تهيمن بنسبة 78.5%. 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الرضا: 78.2% من العملاء يعطون تقييم &gt;= 4/5.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الارتباط: العلاقة بين السعر والشحن r = 0.418.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التركيز الحضري: sao paulo والمدن الكبرى تولد حصة غير متناسبة.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التنويع: 74 فئة توفر فرصًا للتطوير.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التوزيع: معظم الطلبات صغيرة القيمة مع عدد قليل من الطلبات الكبيرة.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" cy="5029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التوصيات الاستراتيجية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التوسع الإقليمي: استهداف الولايات ضعيفة الأداء (الشمال، الشمال الشرقي) بحملات تسويق محلية.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تحسين الشحن: التفاوض على أسعار الشحن لتقليل التكاليف وزيادة الهوامش.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تنويع الفئات: تطوير الفئات الناشئة ذات الهوامج المرتفعة.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برنامج الولاء: الاحتفاظ بالعملاء الراضين (تقييم &gt;= 4).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بدائل الدفع: تعزيز الدفع المباشر والboleto.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تحسين الأسبوع: تركيز العروض على الأيام الضعيفة.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المدن المتوسطة: تعزيز الحضور في المدن المتوسطة.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التحليل المستمر: متابعة المؤشرات شهريًا.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" cy="5029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مصدر البيانات والمنهجية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المصدر: مجموعة بيانات أوليست البرازيلية للتجارة الإلكترونية (Kaggle)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فترة التحليل: 2016-09-15 إلى 2018-08-29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الطلبات المحللة: 100,196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العملاء الفريدون: 93,263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فئات المنتجات: 74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جغرافي: 27 ولاية برازيلية + المقاطعة الفيدرالية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المنهجية: تحليل وصفي، ارتباط بيرسون، تجميع زمني</a:t>
            </a:r>
          </a:p>
          <a:p>
            <a:pPr>
              <a:spcAft>
                <a:spcPts val="1400"/>
              </a:spcAft>
              <a:defRPr sz="2000">
                <a:solidFill>
                  <a:srgbClr val="DDDDDD"/>
                </a:solidFill>
              </a:defRPr>
            </a:pPr>
            <a:r>
              <a:rPr sz="2000" b="0">
                <a:solidFill>
                  <a:srgbClr val="DDDDDD"/>
                </a:solidFill>
              </a:rPr>
              <a:t>الأدوات: Python (Pandas, Plotly)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