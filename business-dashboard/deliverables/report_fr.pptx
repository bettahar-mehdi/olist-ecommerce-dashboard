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0"/>
            <a:ext cx="8229600" cy="1828800"/>
          </a:xfrm>
          <a:prstGeom prst="rect">
            <a:avLst/>
          </a:prstGeom>
          <a:noFill/>
        </p:spPr>
        <p:txBody>
          <a:bodyPr wrap="square">
            <a:spAutoFit/>
          </a:bodyPr>
          <a:lstStyle/>
          <a:p>
            <a:pPr algn="ctr">
              <a:defRPr sz="4400" b="1">
                <a:solidFill>
                  <a:srgbClr val="00BFFF"/>
                </a:solidFill>
              </a:defRPr>
            </a:pPr>
            <a:r>
              <a:rPr sz="4400" b="1">
                <a:solidFill>
                  <a:srgbClr val="00BFFF"/>
                </a:solidFill>
              </a:rPr>
              <a:t>Rapport Statistique</a:t>
            </a:r>
            <a:br/>
            <a:r>
              <a:t>E-Commerce Olist</a:t>
            </a:r>
          </a:p>
        </p:txBody>
      </p:sp>
      <p:sp>
        <p:nvSpPr>
          <p:cNvPr id="4" name="TextBox 3"/>
          <p:cNvSpPr txBox="1"/>
          <p:nvPr/>
        </p:nvSpPr>
        <p:spPr>
          <a:xfrm>
            <a:off x="457200" y="3840480"/>
            <a:ext cx="8229600" cy="914400"/>
          </a:xfrm>
          <a:prstGeom prst="rect">
            <a:avLst/>
          </a:prstGeom>
          <a:noFill/>
        </p:spPr>
        <p:txBody>
          <a:bodyPr wrap="square">
            <a:spAutoFit/>
          </a:bodyPr>
          <a:lstStyle/>
          <a:p>
            <a:pPr algn="ctr">
              <a:defRPr sz="2400">
                <a:solidFill>
                  <a:srgbClr val="CCCCCC"/>
                </a:solidFill>
              </a:defRPr>
            </a:pPr>
            <a:r>
              <a:rPr sz="2400" b="0">
                <a:solidFill>
                  <a:srgbClr val="CCCCCC"/>
                </a:solidFill>
              </a:rPr>
              <a:t>Analyse Approfondie des Donnees | 2016-2018</a:t>
            </a:r>
          </a:p>
        </p:txBody>
      </p:sp>
      <p:sp>
        <p:nvSpPr>
          <p:cNvPr id="5" name="TextBox 4"/>
          <p:cNvSpPr txBox="1"/>
          <p:nvPr/>
        </p:nvSpPr>
        <p:spPr>
          <a:xfrm>
            <a:off x="457200" y="5943600"/>
            <a:ext cx="8229600" cy="457200"/>
          </a:xfrm>
          <a:prstGeom prst="rect">
            <a:avLst/>
          </a:prstGeom>
          <a:noFill/>
        </p:spPr>
        <p:txBody>
          <a:bodyPr wrap="none">
            <a:spAutoFit/>
          </a:bodyPr>
          <a:lstStyle/>
          <a:p>
            <a:pPr algn="ctr">
              <a:defRPr sz="1600">
                <a:solidFill>
                  <a:srgbClr val="999999"/>
                </a:solidFill>
              </a:defRPr>
            </a:pPr>
            <a:r>
              <a:rPr sz="1600" b="0">
                <a:solidFill>
                  <a:srgbClr val="999999"/>
                </a:solidFill>
              </a:rPr>
              <a:t>Date: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731520"/>
          </a:xfrm>
          <a:prstGeom prst="rect">
            <a:avLst/>
          </a:prstGeom>
          <a:noFill/>
        </p:spPr>
        <p:txBody>
          <a:bodyPr wrap="none">
            <a:spAutoFit/>
          </a:bodyPr>
          <a:lstStyle/>
          <a:p>
            <a:pPr>
              <a:defRPr sz="3200" b="1">
                <a:solidFill>
                  <a:srgbClr val="00BFFF"/>
                </a:solidFill>
              </a:defRPr>
            </a:pPr>
            <a:r>
              <a:rPr sz="3200" b="1">
                <a:solidFill>
                  <a:srgbClr val="00BFFF"/>
                </a:solidFill>
              </a:rPr>
              <a:t>Resume Executif</a:t>
            </a:r>
          </a:p>
        </p:txBody>
      </p:sp>
      <p:sp>
        <p:nvSpPr>
          <p:cNvPr id="4" name="Rounded Rectangle 3"/>
          <p:cNvSpPr/>
          <p:nvPr/>
        </p:nvSpPr>
        <p:spPr>
          <a:xfrm>
            <a:off x="457200" y="1188720"/>
            <a:ext cx="4114800" cy="2011680"/>
          </a:xfrm>
          <a:prstGeom prst="roundRect">
            <a:avLst/>
          </a:prstGeom>
          <a:solidFill>
            <a:srgbClr val="222244"/>
          </a:solidFill>
          <a:ln w="254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3657600" cy="548640"/>
          </a:xfrm>
          <a:prstGeom prst="rect">
            <a:avLst/>
          </a:prstGeom>
          <a:noFill/>
        </p:spPr>
        <p:txBody>
          <a:bodyPr wrap="none">
            <a:spAutoFit/>
          </a:bodyPr>
          <a:lstStyle/>
          <a:p>
            <a:pPr>
              <a:defRPr sz="1600">
                <a:solidFill>
                  <a:srgbClr val="AAAAAA"/>
                </a:solidFill>
              </a:defRPr>
            </a:pPr>
            <a:r>
              <a:rPr sz="1600" b="0">
                <a:solidFill>
                  <a:srgbClr val="AAAAAA"/>
                </a:solidFill>
              </a:rPr>
              <a:t>Revenu Total</a:t>
            </a:r>
          </a:p>
        </p:txBody>
      </p:sp>
      <p:sp>
        <p:nvSpPr>
          <p:cNvPr id="6" name="TextBox 5"/>
          <p:cNvSpPr txBox="1"/>
          <p:nvPr/>
        </p:nvSpPr>
        <p:spPr>
          <a:xfrm>
            <a:off x="640080" y="2011680"/>
            <a:ext cx="3657600" cy="731520"/>
          </a:xfrm>
          <a:prstGeom prst="rect">
            <a:avLst/>
          </a:prstGeom>
          <a:noFill/>
        </p:spPr>
        <p:txBody>
          <a:bodyPr wrap="none">
            <a:spAutoFit/>
          </a:bodyPr>
          <a:lstStyle/>
          <a:p>
            <a:pPr>
              <a:defRPr sz="3000" b="1">
                <a:solidFill>
                  <a:srgbClr val="00BFFF"/>
                </a:solidFill>
              </a:defRPr>
            </a:pPr>
            <a:r>
              <a:rPr sz="3000" b="1">
                <a:solidFill>
                  <a:srgbClr val="00BFFF"/>
                </a:solidFill>
              </a:rPr>
              <a:t>R$ 16,401,227</a:t>
            </a:r>
          </a:p>
        </p:txBody>
      </p:sp>
      <p:sp>
        <p:nvSpPr>
          <p:cNvPr id="7" name="Rounded Rectangle 6"/>
          <p:cNvSpPr/>
          <p:nvPr/>
        </p:nvSpPr>
        <p:spPr>
          <a:xfrm>
            <a:off x="5029200" y="1188720"/>
            <a:ext cx="4114800" cy="2011680"/>
          </a:xfrm>
          <a:prstGeom prst="roundRect">
            <a:avLst/>
          </a:prstGeom>
          <a:solidFill>
            <a:srgbClr val="222244"/>
          </a:solidFill>
          <a:ln w="254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0" y="1371600"/>
            <a:ext cx="3657600" cy="548640"/>
          </a:xfrm>
          <a:prstGeom prst="rect">
            <a:avLst/>
          </a:prstGeom>
          <a:noFill/>
        </p:spPr>
        <p:txBody>
          <a:bodyPr wrap="none">
            <a:spAutoFit/>
          </a:bodyPr>
          <a:lstStyle/>
          <a:p>
            <a:pPr>
              <a:defRPr sz="1600">
                <a:solidFill>
                  <a:srgbClr val="AAAAAA"/>
                </a:solidFill>
              </a:defRPr>
            </a:pPr>
            <a:r>
              <a:rPr sz="1600" b="0">
                <a:solidFill>
                  <a:srgbClr val="AAAAAA"/>
                </a:solidFill>
              </a:rPr>
              <a:t>Commandes Totales</a:t>
            </a:r>
          </a:p>
        </p:txBody>
      </p:sp>
      <p:sp>
        <p:nvSpPr>
          <p:cNvPr id="9" name="TextBox 8"/>
          <p:cNvSpPr txBox="1"/>
          <p:nvPr/>
        </p:nvSpPr>
        <p:spPr>
          <a:xfrm>
            <a:off x="5212080" y="2011680"/>
            <a:ext cx="3657600" cy="731520"/>
          </a:xfrm>
          <a:prstGeom prst="rect">
            <a:avLst/>
          </a:prstGeom>
          <a:noFill/>
        </p:spPr>
        <p:txBody>
          <a:bodyPr wrap="none">
            <a:spAutoFit/>
          </a:bodyPr>
          <a:lstStyle/>
          <a:p>
            <a:pPr>
              <a:defRPr sz="3000" b="1">
                <a:solidFill>
                  <a:srgbClr val="00E676"/>
                </a:solidFill>
              </a:defRPr>
            </a:pPr>
            <a:r>
              <a:rPr sz="3000" b="1">
                <a:solidFill>
                  <a:srgbClr val="00E676"/>
                </a:solidFill>
              </a:rPr>
              <a:t>100,196</a:t>
            </a:r>
          </a:p>
        </p:txBody>
      </p:sp>
      <p:sp>
        <p:nvSpPr>
          <p:cNvPr id="10" name="Rounded Rectangle 9"/>
          <p:cNvSpPr/>
          <p:nvPr/>
        </p:nvSpPr>
        <p:spPr>
          <a:xfrm>
            <a:off x="457200" y="3474720"/>
            <a:ext cx="4114800" cy="2011680"/>
          </a:xfrm>
          <a:prstGeom prst="roundRect">
            <a:avLst/>
          </a:prstGeom>
          <a:solidFill>
            <a:srgbClr val="222244"/>
          </a:solidFill>
          <a:ln w="2540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657600"/>
            <a:ext cx="3657600" cy="548640"/>
          </a:xfrm>
          <a:prstGeom prst="rect">
            <a:avLst/>
          </a:prstGeom>
          <a:noFill/>
        </p:spPr>
        <p:txBody>
          <a:bodyPr wrap="none">
            <a:spAutoFit/>
          </a:bodyPr>
          <a:lstStyle/>
          <a:p>
            <a:pPr>
              <a:defRPr sz="1600">
                <a:solidFill>
                  <a:srgbClr val="AAAAAA"/>
                </a:solidFill>
              </a:defRPr>
            </a:pPr>
            <a:r>
              <a:rPr sz="1600" b="0">
                <a:solidFill>
                  <a:srgbClr val="AAAAAA"/>
                </a:solidFill>
              </a:rPr>
              <a:t>Valeur Moyenne/Commande</a:t>
            </a:r>
          </a:p>
        </p:txBody>
      </p:sp>
      <p:sp>
        <p:nvSpPr>
          <p:cNvPr id="12" name="TextBox 11"/>
          <p:cNvSpPr txBox="1"/>
          <p:nvPr/>
        </p:nvSpPr>
        <p:spPr>
          <a:xfrm>
            <a:off x="640080" y="4297680"/>
            <a:ext cx="3657600" cy="731520"/>
          </a:xfrm>
          <a:prstGeom prst="rect">
            <a:avLst/>
          </a:prstGeom>
          <a:noFill/>
        </p:spPr>
        <p:txBody>
          <a:bodyPr wrap="none">
            <a:spAutoFit/>
          </a:bodyPr>
          <a:lstStyle/>
          <a:p>
            <a:pPr>
              <a:defRPr sz="3000" b="1">
                <a:solidFill>
                  <a:srgbClr val="FFC107"/>
                </a:solidFill>
              </a:defRPr>
            </a:pPr>
            <a:r>
              <a:rPr sz="3000" b="1">
                <a:solidFill>
                  <a:srgbClr val="FFC107"/>
                </a:solidFill>
              </a:rPr>
              <a:t>R$ 163.69</a:t>
            </a:r>
          </a:p>
        </p:txBody>
      </p:sp>
      <p:sp>
        <p:nvSpPr>
          <p:cNvPr id="13" name="Rounded Rectangle 12"/>
          <p:cNvSpPr/>
          <p:nvPr/>
        </p:nvSpPr>
        <p:spPr>
          <a:xfrm>
            <a:off x="5029200" y="3474720"/>
            <a:ext cx="4114800" cy="2011680"/>
          </a:xfrm>
          <a:prstGeom prst="roundRect">
            <a:avLst/>
          </a:prstGeom>
          <a:solidFill>
            <a:srgbClr val="222244"/>
          </a:solidFill>
          <a:ln w="254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657600"/>
            <a:ext cx="3657600" cy="548640"/>
          </a:xfrm>
          <a:prstGeom prst="rect">
            <a:avLst/>
          </a:prstGeom>
          <a:noFill/>
        </p:spPr>
        <p:txBody>
          <a:bodyPr wrap="none">
            <a:spAutoFit/>
          </a:bodyPr>
          <a:lstStyle/>
          <a:p>
            <a:pPr>
              <a:defRPr sz="1600">
                <a:solidFill>
                  <a:srgbClr val="AAAAAA"/>
                </a:solidFill>
              </a:defRPr>
            </a:pPr>
            <a:r>
              <a:rPr sz="1600" b="0">
                <a:solidFill>
                  <a:srgbClr val="AAAAAA"/>
                </a:solidFill>
              </a:rPr>
              <a:t>Note Moyenne</a:t>
            </a:r>
          </a:p>
        </p:txBody>
      </p:sp>
      <p:sp>
        <p:nvSpPr>
          <p:cNvPr id="15" name="TextBox 14"/>
          <p:cNvSpPr txBox="1"/>
          <p:nvPr/>
        </p:nvSpPr>
        <p:spPr>
          <a:xfrm>
            <a:off x="5212080" y="4297680"/>
            <a:ext cx="3657600" cy="731520"/>
          </a:xfrm>
          <a:prstGeom prst="rect">
            <a:avLst/>
          </a:prstGeom>
          <a:noFill/>
        </p:spPr>
        <p:txBody>
          <a:bodyPr wrap="none">
            <a:spAutoFit/>
          </a:bodyPr>
          <a:lstStyle/>
          <a:p>
            <a:pPr>
              <a:defRPr sz="3000" b="1">
                <a:solidFill>
                  <a:srgbClr val="FF4444"/>
                </a:solidFill>
              </a:defRPr>
            </a:pPr>
            <a:r>
              <a:rPr sz="3000" b="1">
                <a:solidFill>
                  <a:srgbClr val="FF4444"/>
                </a:solidFill>
              </a:rPr>
              <a:t>4.1/5.0</a:t>
            </a:r>
          </a:p>
        </p:txBody>
      </p:sp>
      <p:sp>
        <p:nvSpPr>
          <p:cNvPr id="16" name="Rounded Rectangle 15"/>
          <p:cNvSpPr/>
          <p:nvPr/>
        </p:nvSpPr>
        <p:spPr>
          <a:xfrm>
            <a:off x="457200" y="5669280"/>
            <a:ext cx="8229600" cy="914400"/>
          </a:xfrm>
          <a:prstGeom prst="roundRect">
            <a:avLst/>
          </a:prstGeom>
          <a:solidFill>
            <a:srgbClr val="222244"/>
          </a:solidFill>
          <a:ln>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760720"/>
            <a:ext cx="7863840" cy="731520"/>
          </a:xfrm>
          <a:prstGeom prst="rect">
            <a:avLst/>
          </a:prstGeom>
          <a:noFill/>
        </p:spPr>
        <p:txBody>
          <a:bodyPr wrap="square">
            <a:spAutoFit/>
          </a:bodyPr>
          <a:lstStyle/>
          <a:p>
            <a:pPr>
              <a:defRPr sz="1400">
                <a:solidFill>
                  <a:srgbClr val="CCCCCC"/>
                </a:solidFill>
              </a:defRPr>
            </a:pPr>
            <a:r>
              <a:rPr sz="1400" b="0">
                <a:solidFill>
                  <a:srgbClr val="CCCCCC"/>
                </a:solidFill>
              </a:rPr>
              <a:t>Cette analyse couvre 100,196 commandes de 93,263 clients uniques sur la periode 2016-09-15 a 2018-08-29. Le revenu total est de R$ 16,401,227 avec une croissance de 1.2% entre la premiere et la seconde moitie de la periode.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61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548640"/>
          </a:xfrm>
          <a:prstGeom prst="rect">
            <a:avLst/>
          </a:prstGeom>
          <a:noFill/>
        </p:spPr>
        <p:txBody>
          <a:bodyPr wrap="none">
            <a:spAutoFit/>
          </a:bodyPr>
          <a:lstStyle/>
          <a:p>
            <a:pPr>
              <a:defRPr sz="2600" b="1">
                <a:solidFill>
                  <a:srgbClr val="00BFFF"/>
                </a:solidFill>
              </a:defRPr>
            </a:pPr>
            <a:r>
              <a:rPr sz="2600" b="1">
                <a:solidFill>
                  <a:srgbClr val="00BFFF"/>
                </a:solidFill>
              </a:rPr>
              <a:t>Tendance des Revenus par Mois</a:t>
            </a:r>
          </a:p>
        </p:txBody>
      </p:sp>
      <p:pic>
        <p:nvPicPr>
          <p:cNvPr id="4" name="Picture 3" descr="image.png"/>
          <p:cNvPicPr>
            <a:picLocks noChangeAspect="1"/>
          </p:cNvPicPr>
          <p:nvPr/>
        </p:nvPicPr>
        <p:blipFill>
          <a:blip r:embed="rId2"/>
          <a:stretch>
            <a:fillRect/>
          </a:stretch>
        </p:blipFill>
        <p:spPr>
          <a:xfrm>
            <a:off x="1097280" y="1005840"/>
            <a:ext cx="6949440" cy="3185160"/>
          </a:xfrm>
          <a:prstGeom prst="rect">
            <a:avLst/>
          </a:prstGeom>
        </p:spPr>
      </p:pic>
      <p:sp>
        <p:nvSpPr>
          <p:cNvPr id="5" name="Rounded Rectangle 4"/>
          <p:cNvSpPr/>
          <p:nvPr/>
        </p:nvSpPr>
        <p:spPr>
          <a:xfrm>
            <a:off x="457200" y="5029200"/>
            <a:ext cx="8229600" cy="1371600"/>
          </a:xfrm>
          <a:prstGeom prst="roundRect">
            <a:avLst/>
          </a:prstGeom>
          <a:solidFill>
            <a:srgbClr val="222244"/>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120640"/>
            <a:ext cx="7863840" cy="1188720"/>
          </a:xfrm>
          <a:prstGeom prst="rect">
            <a:avLst/>
          </a:prstGeom>
          <a:noFill/>
        </p:spPr>
        <p:txBody>
          <a:bodyPr wrap="square">
            <a:spAutoFit/>
          </a:bodyPr>
          <a:lstStyle/>
          <a:p>
            <a:pPr>
              <a:defRPr sz="1500">
                <a:solidFill>
                  <a:srgbClr val="DDDDDD"/>
                </a:solidFill>
              </a:defRPr>
            </a:pPr>
            <a:r>
              <a:rPr sz="1500" b="0">
                <a:solidFill>
                  <a:srgbClr val="DDDDDD"/>
                </a:solidFill>
              </a:rPr>
              <a:t>Le graphique montre l'evolution mensuelle des revenus. On observe une tendance generale a la hausse avec une croissance de 1.2% entre la premiere et seconde moitie de la periode analysee. Le pic de revenu atteint R$ 1,244,124 en un seul mois. Le minimum etait de R$ 20.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61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548640"/>
          </a:xfrm>
          <a:prstGeom prst="rect">
            <a:avLst/>
          </a:prstGeom>
          <a:noFill/>
        </p:spPr>
        <p:txBody>
          <a:bodyPr wrap="none">
            <a:spAutoFit/>
          </a:bodyPr>
          <a:lstStyle/>
          <a:p>
            <a:pPr>
              <a:defRPr sz="2600" b="1">
                <a:solidFill>
                  <a:srgbClr val="00BFFF"/>
                </a:solidFill>
              </a:defRPr>
            </a:pPr>
            <a:r>
              <a:rPr sz="2600" b="1">
                <a:solidFill>
                  <a:srgbClr val="00BFFF"/>
                </a:solidFill>
              </a:rPr>
              <a:t>Distribution Regionale (Top 10 Etats)</a:t>
            </a:r>
          </a:p>
        </p:txBody>
      </p:sp>
      <p:pic>
        <p:nvPicPr>
          <p:cNvPr id="4" name="Picture 3" descr="image.png"/>
          <p:cNvPicPr>
            <a:picLocks noChangeAspect="1"/>
          </p:cNvPicPr>
          <p:nvPr/>
        </p:nvPicPr>
        <p:blipFill>
          <a:blip r:embed="rId2"/>
          <a:stretch>
            <a:fillRect/>
          </a:stretch>
        </p:blipFill>
        <p:spPr>
          <a:xfrm>
            <a:off x="1097280" y="1005840"/>
            <a:ext cx="6949440" cy="3185160"/>
          </a:xfrm>
          <a:prstGeom prst="rect">
            <a:avLst/>
          </a:prstGeom>
        </p:spPr>
      </p:pic>
      <p:sp>
        <p:nvSpPr>
          <p:cNvPr id="5" name="Rounded Rectangle 4"/>
          <p:cNvSpPr/>
          <p:nvPr/>
        </p:nvSpPr>
        <p:spPr>
          <a:xfrm>
            <a:off x="457200" y="5029200"/>
            <a:ext cx="8229600" cy="1371600"/>
          </a:xfrm>
          <a:prstGeom prst="roundRect">
            <a:avLst/>
          </a:prstGeom>
          <a:solidFill>
            <a:srgbClr val="222244"/>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120640"/>
            <a:ext cx="7863840" cy="1188720"/>
          </a:xfrm>
          <a:prstGeom prst="rect">
            <a:avLst/>
          </a:prstGeom>
          <a:noFill/>
        </p:spPr>
        <p:txBody>
          <a:bodyPr wrap="square">
            <a:spAutoFit/>
          </a:bodyPr>
          <a:lstStyle/>
          <a:p>
            <a:pPr>
              <a:defRPr sz="1500">
                <a:solidFill>
                  <a:srgbClr val="DDDDDD"/>
                </a:solidFill>
              </a:defRPr>
            </a:pPr>
            <a:r>
              <a:rPr sz="1500" b="0">
                <a:solidFill>
                  <a:srgbClr val="DDDDDD"/>
                </a:solidFill>
              </a:rPr>
              <a:t>L'Etat de SP domine avec 36.2% du revenu total, suivi par RJ et MG. Cela montre une forte concentration geographique: les 3 premiers etats representent plus de 60% de toutes Les recettes. La diversification regionale reste un defi.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61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548640"/>
          </a:xfrm>
          <a:prstGeom prst="rect">
            <a:avLst/>
          </a:prstGeom>
          <a:noFill/>
        </p:spPr>
        <p:txBody>
          <a:bodyPr wrap="none">
            <a:spAutoFit/>
          </a:bodyPr>
          <a:lstStyle/>
          <a:p>
            <a:pPr>
              <a:defRPr sz="2600" b="1">
                <a:solidFill>
                  <a:srgbClr val="00BFFF"/>
                </a:solidFill>
              </a:defRPr>
            </a:pPr>
            <a:r>
              <a:rPr sz="2600" b="1">
                <a:solidFill>
                  <a:srgbClr val="00BFFF"/>
                </a:solidFill>
              </a:rPr>
              <a:t>Repartition par Categorie (Top 10)</a:t>
            </a:r>
          </a:p>
        </p:txBody>
      </p:sp>
      <p:pic>
        <p:nvPicPr>
          <p:cNvPr id="4" name="Picture 3" descr="image.png"/>
          <p:cNvPicPr>
            <a:picLocks noChangeAspect="1"/>
          </p:cNvPicPr>
          <p:nvPr/>
        </p:nvPicPr>
        <p:blipFill>
          <a:blip r:embed="rId2"/>
          <a:stretch>
            <a:fillRect/>
          </a:stretch>
        </p:blipFill>
        <p:spPr>
          <a:xfrm>
            <a:off x="1097280" y="1005840"/>
            <a:ext cx="6949440" cy="3185160"/>
          </a:xfrm>
          <a:prstGeom prst="rect">
            <a:avLst/>
          </a:prstGeom>
        </p:spPr>
      </p:pic>
      <p:sp>
        <p:nvSpPr>
          <p:cNvPr id="5" name="Rounded Rectangle 4"/>
          <p:cNvSpPr/>
          <p:nvPr/>
        </p:nvSpPr>
        <p:spPr>
          <a:xfrm>
            <a:off x="457200" y="5029200"/>
            <a:ext cx="8229600" cy="1371600"/>
          </a:xfrm>
          <a:prstGeom prst="roundRect">
            <a:avLst/>
          </a:prstGeom>
          <a:solidFill>
            <a:srgbClr val="222244"/>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120640"/>
            <a:ext cx="7863840" cy="1188720"/>
          </a:xfrm>
          <a:prstGeom prst="rect">
            <a:avLst/>
          </a:prstGeom>
          <a:noFill/>
        </p:spPr>
        <p:txBody>
          <a:bodyPr wrap="square">
            <a:spAutoFit/>
          </a:bodyPr>
          <a:lstStyle/>
          <a:p>
            <a:pPr>
              <a:defRPr sz="1500">
                <a:solidFill>
                  <a:srgbClr val="DDDDDD"/>
                </a:solidFill>
              </a:defRPr>
            </a:pPr>
            <a:r>
              <a:rPr sz="1500" b="0">
                <a:solidFill>
                  <a:srgbClr val="DDDDDD"/>
                </a:solidFill>
              </a:rPr>
              <a:t>La categorie 'beleza_saude' est la plus performante avec 8.9% du revenu total. Le top 3 des categories represente environ 30% des revenus, indiquee une diversification moderee. Il existe 74 categories au total, ce qui offre de nombreuses opportunites de developpement.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61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548640"/>
          </a:xfrm>
          <a:prstGeom prst="rect">
            <a:avLst/>
          </a:prstGeom>
          <a:noFill/>
        </p:spPr>
        <p:txBody>
          <a:bodyPr wrap="none">
            <a:spAutoFit/>
          </a:bodyPr>
          <a:lstStyle/>
          <a:p>
            <a:pPr>
              <a:defRPr sz="2600" b="1">
                <a:solidFill>
                  <a:srgbClr val="00BFFF"/>
                </a:solidFill>
              </a:defRPr>
            </a:pPr>
            <a:r>
              <a:rPr sz="2600" b="1">
                <a:solidFill>
                  <a:srgbClr val="00BFFF"/>
                </a:solidFill>
              </a:rPr>
              <a:t>Volume de Commandes par Mois</a:t>
            </a:r>
          </a:p>
        </p:txBody>
      </p:sp>
      <p:pic>
        <p:nvPicPr>
          <p:cNvPr id="4" name="Picture 3" descr="image.png"/>
          <p:cNvPicPr>
            <a:picLocks noChangeAspect="1"/>
          </p:cNvPicPr>
          <p:nvPr/>
        </p:nvPicPr>
        <p:blipFill>
          <a:blip r:embed="rId2"/>
          <a:stretch>
            <a:fillRect/>
          </a:stretch>
        </p:blipFill>
        <p:spPr>
          <a:xfrm>
            <a:off x="1097280" y="1005840"/>
            <a:ext cx="6949440" cy="3185160"/>
          </a:xfrm>
          <a:prstGeom prst="rect">
            <a:avLst/>
          </a:prstGeom>
        </p:spPr>
      </p:pic>
      <p:sp>
        <p:nvSpPr>
          <p:cNvPr id="5" name="Rounded Rectangle 4"/>
          <p:cNvSpPr/>
          <p:nvPr/>
        </p:nvSpPr>
        <p:spPr>
          <a:xfrm>
            <a:off x="457200" y="5029200"/>
            <a:ext cx="8229600" cy="1371600"/>
          </a:xfrm>
          <a:prstGeom prst="roundRect">
            <a:avLst/>
          </a:prstGeom>
          <a:solidFill>
            <a:srgbClr val="222244"/>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120640"/>
            <a:ext cx="7863840" cy="1188720"/>
          </a:xfrm>
          <a:prstGeom prst="rect">
            <a:avLst/>
          </a:prstGeom>
          <a:noFill/>
        </p:spPr>
        <p:txBody>
          <a:bodyPr wrap="square">
            <a:spAutoFit/>
          </a:bodyPr>
          <a:lstStyle/>
          <a:p>
            <a:pPr>
              <a:defRPr sz="1500">
                <a:solidFill>
                  <a:srgbClr val="DDDDDD"/>
                </a:solidFill>
              </a:defRPr>
            </a:pPr>
            <a:r>
              <a:rPr sz="1500" b="0">
                <a:solidFill>
                  <a:srgbClr val="DDDDDD"/>
                </a:solidFill>
              </a:rPr>
              <a:t>Le volume de commandes suit la meme tendance que les revenus. Maximum: 7,616 commandes en un mois. Minimum: 1 commandes. Moyenne mensuelle: 4,356 commandes.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61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548640"/>
          </a:xfrm>
          <a:prstGeom prst="rect">
            <a:avLst/>
          </a:prstGeom>
          <a:noFill/>
        </p:spPr>
        <p:txBody>
          <a:bodyPr wrap="none">
            <a:spAutoFit/>
          </a:bodyPr>
          <a:lstStyle/>
          <a:p>
            <a:pPr>
              <a:defRPr sz="2600" b="1">
                <a:solidFill>
                  <a:srgbClr val="00BFFF"/>
                </a:solidFill>
              </a:defRPr>
            </a:pPr>
            <a:r>
              <a:rPr sz="2600" b="1">
                <a:solidFill>
                  <a:srgbClr val="00BFFF"/>
                </a:solidFill>
              </a:rPr>
              <a:t>Satisfaction Client (Notes de Revue)</a:t>
            </a:r>
          </a:p>
        </p:txBody>
      </p:sp>
      <p:pic>
        <p:nvPicPr>
          <p:cNvPr id="4" name="Picture 3" descr="image.png"/>
          <p:cNvPicPr>
            <a:picLocks noChangeAspect="1"/>
          </p:cNvPicPr>
          <p:nvPr/>
        </p:nvPicPr>
        <p:blipFill>
          <a:blip r:embed="rId2"/>
          <a:stretch>
            <a:fillRect/>
          </a:stretch>
        </p:blipFill>
        <p:spPr>
          <a:xfrm>
            <a:off x="1097280" y="1005840"/>
            <a:ext cx="6949440" cy="3185160"/>
          </a:xfrm>
          <a:prstGeom prst="rect">
            <a:avLst/>
          </a:prstGeom>
        </p:spPr>
      </p:pic>
      <p:sp>
        <p:nvSpPr>
          <p:cNvPr id="5" name="Rounded Rectangle 4"/>
          <p:cNvSpPr/>
          <p:nvPr/>
        </p:nvSpPr>
        <p:spPr>
          <a:xfrm>
            <a:off x="457200" y="5029200"/>
            <a:ext cx="8229600" cy="1371600"/>
          </a:xfrm>
          <a:prstGeom prst="roundRect">
            <a:avLst/>
          </a:prstGeom>
          <a:solidFill>
            <a:srgbClr val="222244"/>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120640"/>
            <a:ext cx="7863840" cy="1188720"/>
          </a:xfrm>
          <a:prstGeom prst="rect">
            <a:avLst/>
          </a:prstGeom>
          <a:noFill/>
        </p:spPr>
        <p:txBody>
          <a:bodyPr wrap="square">
            <a:spAutoFit/>
          </a:bodyPr>
          <a:lstStyle/>
          <a:p>
            <a:pPr>
              <a:defRPr sz="1500">
                <a:solidFill>
                  <a:srgbClr val="DDDDDD"/>
                </a:solidFill>
              </a:defRPr>
            </a:pPr>
            <a:r>
              <a:rPr sz="1500" b="0">
                <a:solidFill>
                  <a:srgbClr val="DDDDDD"/>
                </a:solidFill>
              </a:rPr>
              <a:t>La note moyenne est de 4.13/5.0. 78.2% des commandes ont une note de 4 ou 5 etoiles, indiquant une satisfaction client eleveee. Les notes basses (1-2) representent seulement 21.8% du total, ce qui montre que la qualite de service est globalement bonne.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61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548640"/>
          </a:xfrm>
          <a:prstGeom prst="rect">
            <a:avLst/>
          </a:prstGeom>
          <a:noFill/>
        </p:spPr>
        <p:txBody>
          <a:bodyPr wrap="none">
            <a:spAutoFit/>
          </a:bodyPr>
          <a:lstStyle/>
          <a:p>
            <a:pPr>
              <a:defRPr sz="2600" b="1">
                <a:solidFill>
                  <a:srgbClr val="00BFFF"/>
                </a:solidFill>
              </a:defRPr>
            </a:pPr>
            <a:r>
              <a:rPr sz="2600" b="1">
                <a:solidFill>
                  <a:srgbClr val="00BFFF"/>
                </a:solidFill>
              </a:rPr>
              <a:t>Analyse des Modes de Paiement</a:t>
            </a:r>
          </a:p>
        </p:txBody>
      </p:sp>
      <p:pic>
        <p:nvPicPr>
          <p:cNvPr id="4" name="Picture 3" descr="image.png"/>
          <p:cNvPicPr>
            <a:picLocks noChangeAspect="1"/>
          </p:cNvPicPr>
          <p:nvPr/>
        </p:nvPicPr>
        <p:blipFill>
          <a:blip r:embed="rId2"/>
          <a:stretch>
            <a:fillRect/>
          </a:stretch>
        </p:blipFill>
        <p:spPr>
          <a:xfrm>
            <a:off x="1097280" y="1005840"/>
            <a:ext cx="6949440" cy="3185160"/>
          </a:xfrm>
          <a:prstGeom prst="rect">
            <a:avLst/>
          </a:prstGeom>
        </p:spPr>
      </p:pic>
      <p:sp>
        <p:nvSpPr>
          <p:cNvPr id="5" name="Rounded Rectangle 4"/>
          <p:cNvSpPr/>
          <p:nvPr/>
        </p:nvSpPr>
        <p:spPr>
          <a:xfrm>
            <a:off x="457200" y="5029200"/>
            <a:ext cx="8229600" cy="1371600"/>
          </a:xfrm>
          <a:prstGeom prst="roundRect">
            <a:avLst/>
          </a:prstGeom>
          <a:solidFill>
            <a:srgbClr val="222244"/>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120640"/>
            <a:ext cx="7863840" cy="1188720"/>
          </a:xfrm>
          <a:prstGeom prst="rect">
            <a:avLst/>
          </a:prstGeom>
          <a:noFill/>
        </p:spPr>
        <p:txBody>
          <a:bodyPr wrap="square">
            <a:spAutoFit/>
          </a:bodyPr>
          <a:lstStyle/>
          <a:p>
            <a:pPr>
              <a:defRPr sz="1500">
                <a:solidFill>
                  <a:srgbClr val="DDDDDD"/>
                </a:solidFill>
              </a:defRPr>
            </a:pPr>
            <a:r>
              <a:rPr sz="1500" b="0">
                <a:solidFill>
                  <a:srgbClr val="DDDDDD"/>
                </a:solidFill>
              </a:rPr>
              <a:t>La carte de credit est le moyen de paiement dominant avec 78.5% des revenus. Les autres methodes (boleto, voucher, debit card) partagent le reste. Cette preference pour la carte de credit suggere une clientele aisee qui prefere payer en plusieurs fois.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61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548640"/>
          </a:xfrm>
          <a:prstGeom prst="rect">
            <a:avLst/>
          </a:prstGeom>
          <a:noFill/>
        </p:spPr>
        <p:txBody>
          <a:bodyPr wrap="none">
            <a:spAutoFit/>
          </a:bodyPr>
          <a:lstStyle/>
          <a:p>
            <a:pPr>
              <a:defRPr sz="2600" b="1">
                <a:solidFill>
                  <a:srgbClr val="00BFFF"/>
                </a:solidFill>
              </a:defRPr>
            </a:pPr>
            <a:r>
              <a:rPr sz="2600" b="1">
                <a:solidFill>
                  <a:srgbClr val="00BFFF"/>
                </a:solidFill>
              </a:rPr>
              <a:t>Correlation Prix-Fret (Frais de Port)</a:t>
            </a:r>
          </a:p>
        </p:txBody>
      </p:sp>
      <p:pic>
        <p:nvPicPr>
          <p:cNvPr id="4" name="Picture 3" descr="image.png"/>
          <p:cNvPicPr>
            <a:picLocks noChangeAspect="1"/>
          </p:cNvPicPr>
          <p:nvPr/>
        </p:nvPicPr>
        <p:blipFill>
          <a:blip r:embed="rId2"/>
          <a:stretch>
            <a:fillRect/>
          </a:stretch>
        </p:blipFill>
        <p:spPr>
          <a:xfrm>
            <a:off x="1097280" y="1005840"/>
            <a:ext cx="6949440" cy="3185160"/>
          </a:xfrm>
          <a:prstGeom prst="rect">
            <a:avLst/>
          </a:prstGeom>
        </p:spPr>
      </p:pic>
      <p:sp>
        <p:nvSpPr>
          <p:cNvPr id="5" name="Rounded Rectangle 4"/>
          <p:cNvSpPr/>
          <p:nvPr/>
        </p:nvSpPr>
        <p:spPr>
          <a:xfrm>
            <a:off x="457200" y="5029200"/>
            <a:ext cx="8229600" cy="1371600"/>
          </a:xfrm>
          <a:prstGeom prst="roundRect">
            <a:avLst/>
          </a:prstGeom>
          <a:solidFill>
            <a:srgbClr val="222244"/>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120640"/>
            <a:ext cx="7863840" cy="1188720"/>
          </a:xfrm>
          <a:prstGeom prst="rect">
            <a:avLst/>
          </a:prstGeom>
          <a:noFill/>
        </p:spPr>
        <p:txBody>
          <a:bodyPr wrap="square">
            <a:spAutoFit/>
          </a:bodyPr>
          <a:lstStyle/>
          <a:p>
            <a:pPr>
              <a:defRPr sz="1500">
                <a:solidFill>
                  <a:srgbClr val="DDDDDD"/>
                </a:solidFill>
              </a:defRPr>
            </a:pPr>
            <a:r>
              <a:rPr sz="1500" b="0">
                <a:solidFill>
                  <a:srgbClr val="DDDDDD"/>
                </a:solidFill>
              </a:rPr>
              <a:t>La correlation entre le prix et le fret est de 0.418, ce qui indique une relation moderee.Les produits plus chers ont tendance a avoir des frais de port plus eleves. Le fret moyen est de R$ 20.07 contre un prix moyen de R$ 123.75.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61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548640"/>
          </a:xfrm>
          <a:prstGeom prst="rect">
            <a:avLst/>
          </a:prstGeom>
          <a:noFill/>
        </p:spPr>
        <p:txBody>
          <a:bodyPr wrap="none">
            <a:spAutoFit/>
          </a:bodyPr>
          <a:lstStyle/>
          <a:p>
            <a:pPr>
              <a:defRPr sz="2600" b="1">
                <a:solidFill>
                  <a:srgbClr val="00BFFF"/>
                </a:solidFill>
              </a:defRPr>
            </a:pPr>
            <a:r>
              <a:rPr sz="2600" b="1">
                <a:solidFill>
                  <a:srgbClr val="00BFFF"/>
                </a:solidFill>
              </a:rPr>
              <a:t>Revenus par Jour de la Semaine</a:t>
            </a:r>
          </a:p>
        </p:txBody>
      </p:sp>
      <p:pic>
        <p:nvPicPr>
          <p:cNvPr id="4" name="Picture 3" descr="image.png"/>
          <p:cNvPicPr>
            <a:picLocks noChangeAspect="1"/>
          </p:cNvPicPr>
          <p:nvPr/>
        </p:nvPicPr>
        <p:blipFill>
          <a:blip r:embed="rId2"/>
          <a:stretch>
            <a:fillRect/>
          </a:stretch>
        </p:blipFill>
        <p:spPr>
          <a:xfrm>
            <a:off x="1097280" y="1005840"/>
            <a:ext cx="6949440" cy="3185160"/>
          </a:xfrm>
          <a:prstGeom prst="rect">
            <a:avLst/>
          </a:prstGeom>
        </p:spPr>
      </p:pic>
      <p:sp>
        <p:nvSpPr>
          <p:cNvPr id="5" name="Rounded Rectangle 4"/>
          <p:cNvSpPr/>
          <p:nvPr/>
        </p:nvSpPr>
        <p:spPr>
          <a:xfrm>
            <a:off x="457200" y="5029200"/>
            <a:ext cx="8229600" cy="1371600"/>
          </a:xfrm>
          <a:prstGeom prst="roundRect">
            <a:avLst/>
          </a:prstGeom>
          <a:solidFill>
            <a:srgbClr val="222244"/>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120640"/>
            <a:ext cx="7863840" cy="1188720"/>
          </a:xfrm>
          <a:prstGeom prst="rect">
            <a:avLst/>
          </a:prstGeom>
          <a:noFill/>
        </p:spPr>
        <p:txBody>
          <a:bodyPr wrap="square">
            <a:spAutoFit/>
          </a:bodyPr>
          <a:lstStyle/>
          <a:p>
            <a:pPr>
              <a:defRPr sz="1500">
                <a:solidFill>
                  <a:srgbClr val="DDDDDD"/>
                </a:solidFill>
              </a:defRPr>
            </a:pPr>
            <a:r>
              <a:rPr sz="1500" b="0">
                <a:solidFill>
                  <a:srgbClr val="DDDDDD"/>
                </a:solidFill>
              </a:rPr>
              <a:t>Le Monday est le jour avec le plus de revenus, tandis que le Saturday est le plus faible. La difference entre le meilleur et le pire jour est de 47.2%. Ces informations permettent d'optimiser les campagnes marketing et la gestion des stocks.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61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548640"/>
          </a:xfrm>
          <a:prstGeom prst="rect">
            <a:avLst/>
          </a:prstGeom>
          <a:noFill/>
        </p:spPr>
        <p:txBody>
          <a:bodyPr wrap="none">
            <a:spAutoFit/>
          </a:bodyPr>
          <a:lstStyle/>
          <a:p>
            <a:pPr>
              <a:defRPr sz="2600" b="1">
                <a:solidFill>
                  <a:srgbClr val="00BFFF"/>
                </a:solidFill>
              </a:defRPr>
            </a:pPr>
            <a:r>
              <a:rPr sz="2600" b="1">
                <a:solidFill>
                  <a:srgbClr val="00BFFF"/>
                </a:solidFill>
              </a:rPr>
              <a:t>Top 10 Villes par Revenu</a:t>
            </a:r>
          </a:p>
        </p:txBody>
      </p:sp>
      <p:pic>
        <p:nvPicPr>
          <p:cNvPr id="4" name="Picture 3" descr="image.png"/>
          <p:cNvPicPr>
            <a:picLocks noChangeAspect="1"/>
          </p:cNvPicPr>
          <p:nvPr/>
        </p:nvPicPr>
        <p:blipFill>
          <a:blip r:embed="rId2"/>
          <a:stretch>
            <a:fillRect/>
          </a:stretch>
        </p:blipFill>
        <p:spPr>
          <a:xfrm>
            <a:off x="1097280" y="1005840"/>
            <a:ext cx="6949440" cy="3185160"/>
          </a:xfrm>
          <a:prstGeom prst="rect">
            <a:avLst/>
          </a:prstGeom>
        </p:spPr>
      </p:pic>
      <p:sp>
        <p:nvSpPr>
          <p:cNvPr id="5" name="Rounded Rectangle 4"/>
          <p:cNvSpPr/>
          <p:nvPr/>
        </p:nvSpPr>
        <p:spPr>
          <a:xfrm>
            <a:off x="457200" y="5029200"/>
            <a:ext cx="8229600" cy="1371600"/>
          </a:xfrm>
          <a:prstGeom prst="roundRect">
            <a:avLst/>
          </a:prstGeom>
          <a:solidFill>
            <a:srgbClr val="222244"/>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120640"/>
            <a:ext cx="7863840" cy="1188720"/>
          </a:xfrm>
          <a:prstGeom prst="rect">
            <a:avLst/>
          </a:prstGeom>
          <a:noFill/>
        </p:spPr>
        <p:txBody>
          <a:bodyPr wrap="square">
            <a:spAutoFit/>
          </a:bodyPr>
          <a:lstStyle/>
          <a:p>
            <a:pPr>
              <a:defRPr sz="1500">
                <a:solidFill>
                  <a:srgbClr val="DDDDDD"/>
                </a:solidFill>
              </a:defRPr>
            </a:pPr>
            <a:r>
              <a:rPr sz="1500" b="0">
                <a:solidFill>
                  <a:srgbClr val="DDDDDD"/>
                </a:solidFill>
              </a:rPr>
              <a:t>sao paulo est la ville qui genere le plus de revenus, avec une concentration importante dans les grandes metropolises bresiliennes. Les 5 premieres villes representent environ 30% du revenu national. Cela indique un potentiel de croissance dans les villes moyennes.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61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548640"/>
          </a:xfrm>
          <a:prstGeom prst="rect">
            <a:avLst/>
          </a:prstGeom>
          <a:noFill/>
        </p:spPr>
        <p:txBody>
          <a:bodyPr wrap="none">
            <a:spAutoFit/>
          </a:bodyPr>
          <a:lstStyle/>
          <a:p>
            <a:pPr>
              <a:defRPr sz="2600" b="1">
                <a:solidFill>
                  <a:srgbClr val="00BFFF"/>
                </a:solidFill>
              </a:defRPr>
            </a:pPr>
            <a:r>
              <a:rPr sz="2600" b="1">
                <a:solidFill>
                  <a:srgbClr val="00BFFF"/>
                </a:solidFill>
              </a:rPr>
              <a:t>Distribution des Valeurs de Commande</a:t>
            </a:r>
          </a:p>
        </p:txBody>
      </p:sp>
      <p:pic>
        <p:nvPicPr>
          <p:cNvPr id="4" name="Picture 3" descr="image.png"/>
          <p:cNvPicPr>
            <a:picLocks noChangeAspect="1"/>
          </p:cNvPicPr>
          <p:nvPr/>
        </p:nvPicPr>
        <p:blipFill>
          <a:blip r:embed="rId2"/>
          <a:stretch>
            <a:fillRect/>
          </a:stretch>
        </p:blipFill>
        <p:spPr>
          <a:xfrm>
            <a:off x="1097280" y="1005840"/>
            <a:ext cx="6949440" cy="3185160"/>
          </a:xfrm>
          <a:prstGeom prst="rect">
            <a:avLst/>
          </a:prstGeom>
        </p:spPr>
      </p:pic>
      <p:sp>
        <p:nvSpPr>
          <p:cNvPr id="5" name="Rounded Rectangle 4"/>
          <p:cNvSpPr/>
          <p:nvPr/>
        </p:nvSpPr>
        <p:spPr>
          <a:xfrm>
            <a:off x="457200" y="5029200"/>
            <a:ext cx="8229600" cy="1371600"/>
          </a:xfrm>
          <a:prstGeom prst="roundRect">
            <a:avLst/>
          </a:prstGeom>
          <a:solidFill>
            <a:srgbClr val="222244"/>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120640"/>
            <a:ext cx="7863840" cy="1188720"/>
          </a:xfrm>
          <a:prstGeom prst="rect">
            <a:avLst/>
          </a:prstGeom>
          <a:noFill/>
        </p:spPr>
        <p:txBody>
          <a:bodyPr wrap="square">
            <a:spAutoFit/>
          </a:bodyPr>
          <a:lstStyle/>
          <a:p>
            <a:pPr>
              <a:defRPr sz="1500">
                <a:solidFill>
                  <a:srgbClr val="DDDDDD"/>
                </a:solidFill>
              </a:defRPr>
            </a:pPr>
            <a:r>
              <a:rPr sz="1500" b="0">
                <a:solidFill>
                  <a:srgbClr val="DDDDDD"/>
                </a:solidFill>
              </a:rPr>
              <a:t>La distribution des valeurs de commande est asymetrique (skewed right). La mediane est de R$ 107.78 et la moyenne de R$ 163.69. Le 95e percentile est a R$ 460.61, ce que 95% des commandes sont en dessous. Les commandes de plus de R$ 181.71 constituent le top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61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548640"/>
          </a:xfrm>
          <a:prstGeom prst="rect">
            <a:avLst/>
          </a:prstGeom>
          <a:noFill/>
        </p:spPr>
        <p:txBody>
          <a:bodyPr wrap="none">
            <a:spAutoFit/>
          </a:bodyPr>
          <a:lstStyle/>
          <a:p>
            <a:pPr>
              <a:defRPr sz="2600" b="1">
                <a:solidFill>
                  <a:srgbClr val="00BFFF"/>
                </a:solidFill>
              </a:defRPr>
            </a:pPr>
            <a:r>
              <a:rPr sz="2600" b="1">
                <a:solidFill>
                  <a:srgbClr val="00BFFF"/>
                </a:solidFill>
              </a:rPr>
              <a:t>Resume Statistique</a:t>
            </a:r>
          </a:p>
        </p:txBody>
      </p:sp>
      <p:graphicFrame>
        <p:nvGraphicFramePr>
          <p:cNvPr id="4" name="Table 3"/>
          <p:cNvGraphicFramePr>
            <a:graphicFrameLocks noGrp="1"/>
          </p:cNvGraphicFramePr>
          <p:nvPr/>
        </p:nvGraphicFramePr>
        <p:xfrm>
          <a:off x="457200" y="1005840"/>
          <a:ext cx="8229600" cy="4114800"/>
        </p:xfrm>
        <a:graphic>
          <a:graphicData uri="http://schemas.openxmlformats.org/drawingml/2006/table">
            <a:tbl>
              <a:tblPr firstRow="1" bandRow="1">
                <a:tableStyleId>{5C22544A-7EE6-4342-B048-85BDC9FD1C3A}</a:tableStyleId>
              </a:tblPr>
              <a:tblGrid>
                <a:gridCol w="4114800"/>
                <a:gridCol w="4114800"/>
              </a:tblGrid>
              <a:tr h="342900">
                <a:tc>
                  <a:txBody>
                    <a:bodyPr/>
                    <a:lstStyle/>
                    <a:p>
                      <a:pPr>
                        <a:defRPr sz="1400" b="1">
                          <a:solidFill>
                            <a:srgbClr val="FFFFFF"/>
                          </a:solidFill>
                        </a:defRPr>
                      </a:pPr>
                      <a:r>
                        <a:rPr sz="1400" b="1">
                          <a:solidFill>
                            <a:srgbClr val="FFFFFF"/>
                          </a:solidFill>
                        </a:rPr>
                        <a:t>Metrique</a:t>
                      </a:r>
                    </a:p>
                  </a:txBody>
                  <a:tcPr>
                    <a:solidFill>
                      <a:srgbClr val="006090"/>
                    </a:solidFill>
                  </a:tcPr>
                </a:tc>
                <a:tc>
                  <a:txBody>
                    <a:bodyPr/>
                    <a:lstStyle/>
                    <a:p>
                      <a:pPr>
                        <a:defRPr sz="1400" b="1">
                          <a:solidFill>
                            <a:srgbClr val="FFFFFF"/>
                          </a:solidFill>
                        </a:defRPr>
                      </a:pPr>
                      <a:r>
                        <a:rPr sz="1400" b="1">
                          <a:solidFill>
                            <a:srgbClr val="FFFFFF"/>
                          </a:solidFill>
                        </a:rPr>
                        <a:t>Valeur</a:t>
                      </a:r>
                    </a:p>
                  </a:txBody>
                  <a:tcPr>
                    <a:solidFill>
                      <a:srgbClr val="006090"/>
                    </a:solidFill>
                  </a:tcPr>
                </a:tc>
              </a:tr>
              <a:tr h="342900">
                <a:tc>
                  <a:txBody>
                    <a:bodyPr/>
                    <a:lstStyle/>
                    <a:p>
                      <a:pPr>
                        <a:defRPr sz="1300">
                          <a:solidFill>
                            <a:srgbClr val="DDDDDD"/>
                          </a:solidFill>
                        </a:defRPr>
                      </a:pPr>
                      <a:r>
                        <a:rPr sz="1300" b="0">
                          <a:solidFill>
                            <a:srgbClr val="DDDDDD"/>
                          </a:solidFill>
                        </a:rPr>
                        <a:t>Revenu Total</a:t>
                      </a:r>
                    </a:p>
                  </a:txBody>
                  <a:tcPr>
                    <a:solidFill>
                      <a:srgbClr val="222244"/>
                    </a:solidFill>
                  </a:tcPr>
                </a:tc>
                <a:tc>
                  <a:txBody>
                    <a:bodyPr/>
                    <a:lstStyle/>
                    <a:p>
                      <a:pPr>
                        <a:defRPr sz="1300">
                          <a:solidFill>
                            <a:srgbClr val="DDDDDD"/>
                          </a:solidFill>
                        </a:defRPr>
                      </a:pPr>
                      <a:r>
                        <a:rPr sz="1300" b="0">
                          <a:solidFill>
                            <a:srgbClr val="DDDDDD"/>
                          </a:solidFill>
                        </a:rPr>
                        <a:t>R$ 16,401,227.35</a:t>
                      </a:r>
                    </a:p>
                  </a:txBody>
                  <a:tcPr>
                    <a:solidFill>
                      <a:srgbClr val="222244"/>
                    </a:solidFill>
                  </a:tcPr>
                </a:tc>
              </a:tr>
              <a:tr h="342900">
                <a:tc>
                  <a:txBody>
                    <a:bodyPr/>
                    <a:lstStyle/>
                    <a:p>
                      <a:pPr>
                        <a:defRPr sz="1300">
                          <a:solidFill>
                            <a:srgbClr val="DDDDDD"/>
                          </a:solidFill>
                        </a:defRPr>
                      </a:pPr>
                      <a:r>
                        <a:rPr sz="1300" b="0">
                          <a:solidFill>
                            <a:srgbClr val="DDDDDD"/>
                          </a:solidFill>
                        </a:rPr>
                        <a:t>Nombre de Commandes</a:t>
                      </a:r>
                    </a:p>
                  </a:txBody>
                  <a:tcPr/>
                </a:tc>
                <a:tc>
                  <a:txBody>
                    <a:bodyPr/>
                    <a:lstStyle/>
                    <a:p>
                      <a:pPr>
                        <a:defRPr sz="1300">
                          <a:solidFill>
                            <a:srgbClr val="DDDDDD"/>
                          </a:solidFill>
                        </a:defRPr>
                      </a:pPr>
                      <a:r>
                        <a:rPr sz="1300" b="0">
                          <a:solidFill>
                            <a:srgbClr val="DDDDDD"/>
                          </a:solidFill>
                        </a:rPr>
                        <a:t>100,196</a:t>
                      </a:r>
                    </a:p>
                  </a:txBody>
                  <a:tcPr/>
                </a:tc>
              </a:tr>
              <a:tr h="342900">
                <a:tc>
                  <a:txBody>
                    <a:bodyPr/>
                    <a:lstStyle/>
                    <a:p>
                      <a:pPr>
                        <a:defRPr sz="1300">
                          <a:solidFill>
                            <a:srgbClr val="DDDDDD"/>
                          </a:solidFill>
                        </a:defRPr>
                      </a:pPr>
                      <a:r>
                        <a:rPr sz="1300" b="0">
                          <a:solidFill>
                            <a:srgbClr val="DDDDDD"/>
                          </a:solidFill>
                        </a:rPr>
                        <a:t>Valeur Moyenne</a:t>
                      </a:r>
                    </a:p>
                  </a:txBody>
                  <a:tcPr>
                    <a:solidFill>
                      <a:srgbClr val="222244"/>
                    </a:solidFill>
                  </a:tcPr>
                </a:tc>
                <a:tc>
                  <a:txBody>
                    <a:bodyPr/>
                    <a:lstStyle/>
                    <a:p>
                      <a:pPr>
                        <a:defRPr sz="1300">
                          <a:solidFill>
                            <a:srgbClr val="DDDDDD"/>
                          </a:solidFill>
                        </a:defRPr>
                      </a:pPr>
                      <a:r>
                        <a:rPr sz="1300" b="0">
                          <a:solidFill>
                            <a:srgbClr val="DDDDDD"/>
                          </a:solidFill>
                        </a:rPr>
                        <a:t>R$ 163.69</a:t>
                      </a:r>
                    </a:p>
                  </a:txBody>
                  <a:tcPr>
                    <a:solidFill>
                      <a:srgbClr val="222244"/>
                    </a:solidFill>
                  </a:tcPr>
                </a:tc>
              </a:tr>
              <a:tr h="342900">
                <a:tc>
                  <a:txBody>
                    <a:bodyPr/>
                    <a:lstStyle/>
                    <a:p>
                      <a:pPr>
                        <a:defRPr sz="1300">
                          <a:solidFill>
                            <a:srgbClr val="DDDDDD"/>
                          </a:solidFill>
                        </a:defRPr>
                      </a:pPr>
                      <a:r>
                        <a:rPr sz="1300" b="0">
                          <a:solidFill>
                            <a:srgbClr val="DDDDDD"/>
                          </a:solidFill>
                        </a:rPr>
                        <a:t>Note Moyenne</a:t>
                      </a:r>
                    </a:p>
                  </a:txBody>
                  <a:tcPr/>
                </a:tc>
                <a:tc>
                  <a:txBody>
                    <a:bodyPr/>
                    <a:lstStyle/>
                    <a:p>
                      <a:pPr>
                        <a:defRPr sz="1300">
                          <a:solidFill>
                            <a:srgbClr val="DDDDDD"/>
                          </a:solidFill>
                        </a:defRPr>
                      </a:pPr>
                      <a:r>
                        <a:rPr sz="1300" b="0">
                          <a:solidFill>
                            <a:srgbClr val="DDDDDD"/>
                          </a:solidFill>
                        </a:rPr>
                        <a:t>4.13</a:t>
                      </a:r>
                    </a:p>
                  </a:txBody>
                  <a:tcPr/>
                </a:tc>
              </a:tr>
              <a:tr h="342900">
                <a:tc>
                  <a:txBody>
                    <a:bodyPr/>
                    <a:lstStyle/>
                    <a:p>
                      <a:pPr>
                        <a:defRPr sz="1300">
                          <a:solidFill>
                            <a:srgbClr val="DDDDDD"/>
                          </a:solidFill>
                        </a:defRPr>
                      </a:pPr>
                      <a:r>
                        <a:rPr sz="1300" b="0">
                          <a:solidFill>
                            <a:srgbClr val="DDDDDD"/>
                          </a:solidFill>
                        </a:rPr>
                        <a:t>Revenu P25</a:t>
                      </a:r>
                    </a:p>
                  </a:txBody>
                  <a:tcPr>
                    <a:solidFill>
                      <a:srgbClr val="222244"/>
                    </a:solidFill>
                  </a:tcPr>
                </a:tc>
                <a:tc>
                  <a:txBody>
                    <a:bodyPr/>
                    <a:lstStyle/>
                    <a:p>
                      <a:pPr>
                        <a:defRPr sz="1300">
                          <a:solidFill>
                            <a:srgbClr val="DDDDDD"/>
                          </a:solidFill>
                        </a:defRPr>
                      </a:pPr>
                      <a:r>
                        <a:rPr sz="1300" b="0">
                          <a:solidFill>
                            <a:srgbClr val="DDDDDD"/>
                          </a:solidFill>
                        </a:rPr>
                        <a:t>R$ 63.09</a:t>
                      </a:r>
                    </a:p>
                  </a:txBody>
                  <a:tcPr>
                    <a:solidFill>
                      <a:srgbClr val="222244"/>
                    </a:solidFill>
                  </a:tcPr>
                </a:tc>
              </a:tr>
              <a:tr h="342900">
                <a:tc>
                  <a:txBody>
                    <a:bodyPr/>
                    <a:lstStyle/>
                    <a:p>
                      <a:pPr>
                        <a:defRPr sz="1300">
                          <a:solidFill>
                            <a:srgbClr val="DDDDDD"/>
                          </a:solidFill>
                        </a:defRPr>
                      </a:pPr>
                      <a:r>
                        <a:rPr sz="1300" b="0">
                          <a:solidFill>
                            <a:srgbClr val="DDDDDD"/>
                          </a:solidFill>
                        </a:rPr>
                        <a:t>Mediane (P50)</a:t>
                      </a:r>
                    </a:p>
                  </a:txBody>
                  <a:tcPr/>
                </a:tc>
                <a:tc>
                  <a:txBody>
                    <a:bodyPr/>
                    <a:lstStyle/>
                    <a:p>
                      <a:pPr>
                        <a:defRPr sz="1300">
                          <a:solidFill>
                            <a:srgbClr val="DDDDDD"/>
                          </a:solidFill>
                        </a:defRPr>
                      </a:pPr>
                      <a:r>
                        <a:rPr sz="1300" b="0">
                          <a:solidFill>
                            <a:srgbClr val="DDDDDD"/>
                          </a:solidFill>
                        </a:rPr>
                        <a:t>R$ 107.78</a:t>
                      </a:r>
                    </a:p>
                  </a:txBody>
                  <a:tcPr/>
                </a:tc>
              </a:tr>
              <a:tr h="342900">
                <a:tc>
                  <a:txBody>
                    <a:bodyPr/>
                    <a:lstStyle/>
                    <a:p>
                      <a:pPr>
                        <a:defRPr sz="1300">
                          <a:solidFill>
                            <a:srgbClr val="DDDDDD"/>
                          </a:solidFill>
                        </a:defRPr>
                      </a:pPr>
                      <a:r>
                        <a:rPr sz="1300" b="0">
                          <a:solidFill>
                            <a:srgbClr val="DDDDDD"/>
                          </a:solidFill>
                        </a:rPr>
                        <a:t>Revenu P75</a:t>
                      </a:r>
                    </a:p>
                  </a:txBody>
                  <a:tcPr>
                    <a:solidFill>
                      <a:srgbClr val="222244"/>
                    </a:solidFill>
                  </a:tcPr>
                </a:tc>
                <a:tc>
                  <a:txBody>
                    <a:bodyPr/>
                    <a:lstStyle/>
                    <a:p>
                      <a:pPr>
                        <a:defRPr sz="1300">
                          <a:solidFill>
                            <a:srgbClr val="DDDDDD"/>
                          </a:solidFill>
                        </a:defRPr>
                      </a:pPr>
                      <a:r>
                        <a:rPr sz="1300" b="0">
                          <a:solidFill>
                            <a:srgbClr val="DDDDDD"/>
                          </a:solidFill>
                        </a:rPr>
                        <a:t>R$ 181.71</a:t>
                      </a:r>
                    </a:p>
                  </a:txBody>
                  <a:tcPr>
                    <a:solidFill>
                      <a:srgbClr val="222244"/>
                    </a:solidFill>
                  </a:tcPr>
                </a:tc>
              </a:tr>
              <a:tr h="342900">
                <a:tc>
                  <a:txBody>
                    <a:bodyPr/>
                    <a:lstStyle/>
                    <a:p>
                      <a:pPr>
                        <a:defRPr sz="1300">
                          <a:solidFill>
                            <a:srgbClr val="DDDDDD"/>
                          </a:solidFill>
                        </a:defRPr>
                      </a:pPr>
                      <a:r>
                        <a:rPr sz="1300" b="0">
                          <a:solidFill>
                            <a:srgbClr val="DDDDDD"/>
                          </a:solidFill>
                        </a:rPr>
                        <a:t>Revenu P95</a:t>
                      </a:r>
                    </a:p>
                  </a:txBody>
                  <a:tcPr/>
                </a:tc>
                <a:tc>
                  <a:txBody>
                    <a:bodyPr/>
                    <a:lstStyle/>
                    <a:p>
                      <a:pPr>
                        <a:defRPr sz="1300">
                          <a:solidFill>
                            <a:srgbClr val="DDDDDD"/>
                          </a:solidFill>
                        </a:defRPr>
                      </a:pPr>
                      <a:r>
                        <a:rPr sz="1300" b="0">
                          <a:solidFill>
                            <a:srgbClr val="DDDDDD"/>
                          </a:solidFill>
                        </a:rPr>
                        <a:t>R$ 460.61</a:t>
                      </a:r>
                    </a:p>
                  </a:txBody>
                  <a:tcPr/>
                </a:tc>
              </a:tr>
              <a:tr h="342900">
                <a:tc>
                  <a:txBody>
                    <a:bodyPr/>
                    <a:lstStyle/>
                    <a:p>
                      <a:pPr>
                        <a:defRPr sz="1300">
                          <a:solidFill>
                            <a:srgbClr val="DDDDDD"/>
                          </a:solidFill>
                        </a:defRPr>
                      </a:pPr>
                      <a:r>
                        <a:rPr sz="1300" b="0">
                          <a:solidFill>
                            <a:srgbClr val="DDDDDD"/>
                          </a:solidFill>
                        </a:rPr>
                        <a:t>Correlation Prix-Fret</a:t>
                      </a:r>
                    </a:p>
                  </a:txBody>
                  <a:tcPr>
                    <a:solidFill>
                      <a:srgbClr val="222244"/>
                    </a:solidFill>
                  </a:tcPr>
                </a:tc>
                <a:tc>
                  <a:txBody>
                    <a:bodyPr/>
                    <a:lstStyle/>
                    <a:p>
                      <a:pPr>
                        <a:defRPr sz="1300">
                          <a:solidFill>
                            <a:srgbClr val="DDDDDD"/>
                          </a:solidFill>
                        </a:defRPr>
                      </a:pPr>
                      <a:r>
                        <a:rPr sz="1300" b="0">
                          <a:solidFill>
                            <a:srgbClr val="DDDDDD"/>
                          </a:solidFill>
                        </a:rPr>
                        <a:t>0.418</a:t>
                      </a:r>
                    </a:p>
                  </a:txBody>
                  <a:tcPr>
                    <a:solidFill>
                      <a:srgbClr val="222244"/>
                    </a:solidFill>
                  </a:tcPr>
                </a:tc>
              </a:tr>
              <a:tr h="342900">
                <a:tc>
                  <a:txBody>
                    <a:bodyPr/>
                    <a:lstStyle/>
                    <a:p>
                      <a:pPr>
                        <a:defRPr sz="1300">
                          <a:solidFill>
                            <a:srgbClr val="DDDDDD"/>
                          </a:solidFill>
                        </a:defRPr>
                      </a:pPr>
                      <a:r>
                        <a:rPr sz="1300" b="0">
                          <a:solidFill>
                            <a:srgbClr val="DDDDDD"/>
                          </a:solidFill>
                        </a:rPr>
                        <a:t>Clients Uniques</a:t>
                      </a:r>
                    </a:p>
                  </a:txBody>
                  <a:tcPr/>
                </a:tc>
                <a:tc>
                  <a:txBody>
                    <a:bodyPr/>
                    <a:lstStyle/>
                    <a:p>
                      <a:pPr>
                        <a:defRPr sz="1300">
                          <a:solidFill>
                            <a:srgbClr val="DDDDDD"/>
                          </a:solidFill>
                        </a:defRPr>
                      </a:pPr>
                      <a:r>
                        <a:rPr sz="1300" b="0">
                          <a:solidFill>
                            <a:srgbClr val="DDDDDD"/>
                          </a:solidFill>
                        </a:rPr>
                        <a:t>93,263</a:t>
                      </a:r>
                    </a:p>
                  </a:txBody>
                  <a:tcPr/>
                </a:tc>
              </a:tr>
              <a:tr h="342900">
                <a:tc>
                  <a:txBody>
                    <a:bodyPr/>
                    <a:lstStyle/>
                    <a:p>
                      <a:pPr>
                        <a:defRPr sz="1300">
                          <a:solidFill>
                            <a:srgbClr val="DDDDDD"/>
                          </a:solidFill>
                        </a:defRPr>
                      </a:pPr>
                      <a:r>
                        <a:rPr sz="1300" b="0">
                          <a:solidFill>
                            <a:srgbClr val="DDDDDD"/>
                          </a:solidFill>
                        </a:rPr>
                        <a:t>Categories</a:t>
                      </a:r>
                    </a:p>
                  </a:txBody>
                  <a:tcPr>
                    <a:solidFill>
                      <a:srgbClr val="222244"/>
                    </a:solidFill>
                  </a:tcPr>
                </a:tc>
                <a:tc>
                  <a:txBody>
                    <a:bodyPr/>
                    <a:lstStyle/>
                    <a:p>
                      <a:pPr>
                        <a:defRPr sz="1300">
                          <a:solidFill>
                            <a:srgbClr val="DDDDDD"/>
                          </a:solidFill>
                        </a:defRPr>
                      </a:pPr>
                      <a:r>
                        <a:rPr sz="1300" b="0">
                          <a:solidFill>
                            <a:srgbClr val="DDDDDD"/>
                          </a:solidFill>
                        </a:rPr>
                        <a:t>74</a:t>
                      </a:r>
                    </a:p>
                  </a:txBody>
                  <a:tcPr>
                    <a:solidFill>
                      <a:srgbClr val="222244"/>
                    </a:solidFill>
                  </a:tcPr>
                </a:tc>
              </a:tr>
            </a:tbl>
          </a:graphicData>
        </a:graphic>
      </p:graphicFrame>
      <p:sp>
        <p:nvSpPr>
          <p:cNvPr id="5" name="Rounded Rectangle 4"/>
          <p:cNvSpPr/>
          <p:nvPr/>
        </p:nvSpPr>
        <p:spPr>
          <a:xfrm>
            <a:off x="457200" y="5303520"/>
            <a:ext cx="8229600" cy="1188720"/>
          </a:xfrm>
          <a:prstGeom prst="roundRect">
            <a:avLst/>
          </a:prstGeom>
          <a:solidFill>
            <a:srgbClr val="222244"/>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394960"/>
            <a:ext cx="7863840" cy="1005840"/>
          </a:xfrm>
          <a:prstGeom prst="rect">
            <a:avLst/>
          </a:prstGeom>
          <a:noFill/>
        </p:spPr>
        <p:txBody>
          <a:bodyPr wrap="square">
            <a:spAutoFit/>
          </a:bodyPr>
          <a:lstStyle/>
          <a:p>
            <a:pPr>
              <a:defRPr sz="1500">
                <a:solidFill>
                  <a:srgbClr val="DDDDDD"/>
                </a:solidFill>
              </a:defRPr>
            </a:pPr>
            <a:r>
              <a:rPr sz="1500" b="0">
                <a:solidFill>
                  <a:srgbClr val="DDDDDD"/>
                </a:solidFill>
              </a:rPr>
              <a:t>Ce tableau resume les principales statistiques descriptives. Les percentiles montrent la distribution des revenus: 50% des commandes sont inferieures a R$ 107.78 et 75% sont inferieures a R$ 181.71. La correlation prix-fret indique la relation lineaire entre ces deux variables.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61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548640"/>
          </a:xfrm>
          <a:prstGeom prst="rect">
            <a:avLst/>
          </a:prstGeom>
          <a:noFill/>
        </p:spPr>
        <p:txBody>
          <a:bodyPr wrap="none">
            <a:spAutoFit/>
          </a:bodyPr>
          <a:lstStyle/>
          <a:p>
            <a:pPr>
              <a:defRPr sz="2600" b="1">
                <a:solidFill>
                  <a:srgbClr val="00BFFF"/>
                </a:solidFill>
              </a:defRPr>
            </a:pPr>
            <a:r>
              <a:rPr sz="2600" b="1">
                <a:solidFill>
                  <a:srgbClr val="00BFFF"/>
                </a:solidFill>
              </a:rPr>
              <a:t>Top 10 Etats - Details</a:t>
            </a:r>
          </a:p>
        </p:txBody>
      </p:sp>
      <p:graphicFrame>
        <p:nvGraphicFramePr>
          <p:cNvPr id="4" name="Table 3"/>
          <p:cNvGraphicFramePr>
            <a:graphicFrameLocks noGrp="1"/>
          </p:cNvGraphicFramePr>
          <p:nvPr/>
        </p:nvGraphicFramePr>
        <p:xfrm>
          <a:off x="457200" y="1005840"/>
          <a:ext cx="8229600" cy="41148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74072">
                <a:tc>
                  <a:txBody>
                    <a:bodyPr/>
                    <a:lstStyle/>
                    <a:p>
                      <a:pPr>
                        <a:defRPr sz="1400" b="1">
                          <a:solidFill>
                            <a:srgbClr val="FFFFFF"/>
                          </a:solidFill>
                        </a:defRPr>
                      </a:pPr>
                      <a:r>
                        <a:rPr sz="1400" b="1">
                          <a:solidFill>
                            <a:srgbClr val="FFFFFF"/>
                          </a:solidFill>
                        </a:rPr>
                        <a:t>Etat</a:t>
                      </a:r>
                    </a:p>
                  </a:txBody>
                  <a:tcPr>
                    <a:solidFill>
                      <a:srgbClr val="006090"/>
                    </a:solidFill>
                  </a:tcPr>
                </a:tc>
                <a:tc>
                  <a:txBody>
                    <a:bodyPr/>
                    <a:lstStyle/>
                    <a:p>
                      <a:pPr>
                        <a:defRPr sz="1400" b="1">
                          <a:solidFill>
                            <a:srgbClr val="FFFFFF"/>
                          </a:solidFill>
                        </a:defRPr>
                      </a:pPr>
                      <a:r>
                        <a:rPr sz="1400" b="1">
                          <a:solidFill>
                            <a:srgbClr val="FFFFFF"/>
                          </a:solidFill>
                        </a:rPr>
                        <a:t>Revenu</a:t>
                      </a:r>
                    </a:p>
                  </a:txBody>
                  <a:tcPr>
                    <a:solidFill>
                      <a:srgbClr val="006090"/>
                    </a:solidFill>
                  </a:tcPr>
                </a:tc>
                <a:tc>
                  <a:txBody>
                    <a:bodyPr/>
                    <a:lstStyle/>
                    <a:p>
                      <a:pPr>
                        <a:defRPr sz="1400" b="1">
                          <a:solidFill>
                            <a:srgbClr val="FFFFFF"/>
                          </a:solidFill>
                        </a:defRPr>
                      </a:pPr>
                      <a:r>
                        <a:rPr sz="1400" b="1">
                          <a:solidFill>
                            <a:srgbClr val="FFFFFF"/>
                          </a:solidFill>
                        </a:rPr>
                        <a:t>Commandes</a:t>
                      </a:r>
                    </a:p>
                  </a:txBody>
                  <a:tcPr>
                    <a:solidFill>
                      <a:srgbClr val="006090"/>
                    </a:solidFill>
                  </a:tcPr>
                </a:tc>
                <a:tc>
                  <a:txBody>
                    <a:bodyPr/>
                    <a:lstStyle/>
                    <a:p>
                      <a:pPr>
                        <a:defRPr sz="1400" b="1">
                          <a:solidFill>
                            <a:srgbClr val="FFFFFF"/>
                          </a:solidFill>
                        </a:defRPr>
                      </a:pPr>
                      <a:r>
                        <a:rPr sz="1400" b="1">
                          <a:solidFill>
                            <a:srgbClr val="FFFFFF"/>
                          </a:solidFill>
                        </a:rPr>
                        <a:t>Note Moy.</a:t>
                      </a:r>
                    </a:p>
                  </a:txBody>
                  <a:tcPr>
                    <a:solidFill>
                      <a:srgbClr val="006090"/>
                    </a:solidFill>
                  </a:tcPr>
                </a:tc>
                <a:tc>
                  <a:txBody>
                    <a:bodyPr/>
                    <a:lstStyle/>
                    <a:p>
                      <a:pPr>
                        <a:defRPr sz="1400" b="1">
                          <a:solidFill>
                            <a:srgbClr val="FFFFFF"/>
                          </a:solidFill>
                        </a:defRPr>
                      </a:pPr>
                      <a:r>
                        <a:rPr sz="1400" b="1">
                          <a:solidFill>
                            <a:srgbClr val="FFFFFF"/>
                          </a:solidFill>
                        </a:rPr>
                        <a:t>Part %</a:t>
                      </a:r>
                    </a:p>
                  </a:txBody>
                  <a:tcPr>
                    <a:solidFill>
                      <a:srgbClr val="006090"/>
                    </a:solidFill>
                  </a:tcPr>
                </a:tc>
              </a:tr>
              <a:tr h="374072">
                <a:tc>
                  <a:txBody>
                    <a:bodyPr/>
                    <a:lstStyle/>
                    <a:p>
                      <a:pPr>
                        <a:defRPr sz="1300">
                          <a:solidFill>
                            <a:srgbClr val="DDDDDD"/>
                          </a:solidFill>
                        </a:defRPr>
                      </a:pPr>
                      <a:r>
                        <a:rPr sz="1300" b="0">
                          <a:solidFill>
                            <a:srgbClr val="DDDDDD"/>
                          </a:solidFill>
                        </a:rPr>
                        <a:t>SP</a:t>
                      </a:r>
                    </a:p>
                  </a:txBody>
                  <a:tcPr>
                    <a:solidFill>
                      <a:srgbClr val="222244"/>
                    </a:solidFill>
                  </a:tcPr>
                </a:tc>
                <a:tc>
                  <a:txBody>
                    <a:bodyPr/>
                    <a:lstStyle/>
                    <a:p>
                      <a:pPr>
                        <a:defRPr sz="1300">
                          <a:solidFill>
                            <a:srgbClr val="DDDDDD"/>
                          </a:solidFill>
                        </a:defRPr>
                      </a:pPr>
                      <a:r>
                        <a:rPr sz="1300" b="0">
                          <a:solidFill>
                            <a:srgbClr val="DDDDDD"/>
                          </a:solidFill>
                        </a:rPr>
                        <a:t>R$ 5,945,409</a:t>
                      </a:r>
                    </a:p>
                  </a:txBody>
                  <a:tcPr>
                    <a:solidFill>
                      <a:srgbClr val="222244"/>
                    </a:solidFill>
                  </a:tcPr>
                </a:tc>
                <a:tc>
                  <a:txBody>
                    <a:bodyPr/>
                    <a:lstStyle/>
                    <a:p>
                      <a:pPr>
                        <a:defRPr sz="1300">
                          <a:solidFill>
                            <a:srgbClr val="DDDDDD"/>
                          </a:solidFill>
                        </a:defRPr>
                      </a:pPr>
                      <a:r>
                        <a:rPr sz="1300" b="0">
                          <a:solidFill>
                            <a:srgbClr val="DDDDDD"/>
                          </a:solidFill>
                        </a:rPr>
                        <a:t>40650</a:t>
                      </a:r>
                    </a:p>
                  </a:txBody>
                  <a:tcPr>
                    <a:solidFill>
                      <a:srgbClr val="222244"/>
                    </a:solidFill>
                  </a:tcPr>
                </a:tc>
                <a:tc>
                  <a:txBody>
                    <a:bodyPr/>
                    <a:lstStyle/>
                    <a:p>
                      <a:pPr>
                        <a:defRPr sz="1300">
                          <a:solidFill>
                            <a:srgbClr val="DDDDDD"/>
                          </a:solidFill>
                        </a:defRPr>
                      </a:pPr>
                      <a:r>
                        <a:rPr sz="1300" b="0">
                          <a:solidFill>
                            <a:srgbClr val="DDDDDD"/>
                          </a:solidFill>
                        </a:rPr>
                        <a:t>4.2</a:t>
                      </a:r>
                    </a:p>
                  </a:txBody>
                  <a:tcPr>
                    <a:solidFill>
                      <a:srgbClr val="222244"/>
                    </a:solidFill>
                  </a:tcPr>
                </a:tc>
                <a:tc>
                  <a:txBody>
                    <a:bodyPr/>
                    <a:lstStyle/>
                    <a:p>
                      <a:pPr>
                        <a:defRPr sz="1300">
                          <a:solidFill>
                            <a:srgbClr val="DDDDDD"/>
                          </a:solidFill>
                        </a:defRPr>
                      </a:pPr>
                      <a:r>
                        <a:rPr sz="1300" b="0">
                          <a:solidFill>
                            <a:srgbClr val="DDDDDD"/>
                          </a:solidFill>
                        </a:rPr>
                        <a:t>36.2%</a:t>
                      </a:r>
                    </a:p>
                  </a:txBody>
                  <a:tcPr>
                    <a:solidFill>
                      <a:srgbClr val="222244"/>
                    </a:solidFill>
                  </a:tcPr>
                </a:tc>
              </a:tr>
              <a:tr h="374072">
                <a:tc>
                  <a:txBody>
                    <a:bodyPr/>
                    <a:lstStyle/>
                    <a:p>
                      <a:pPr>
                        <a:defRPr sz="1300">
                          <a:solidFill>
                            <a:srgbClr val="DDDDDD"/>
                          </a:solidFill>
                        </a:defRPr>
                      </a:pPr>
                      <a:r>
                        <a:rPr sz="1300" b="0">
                          <a:solidFill>
                            <a:srgbClr val="DDDDDD"/>
                          </a:solidFill>
                        </a:rPr>
                        <a:t>RJ</a:t>
                      </a:r>
                    </a:p>
                  </a:txBody>
                  <a:tcPr/>
                </a:tc>
                <a:tc>
                  <a:txBody>
                    <a:bodyPr/>
                    <a:lstStyle/>
                    <a:p>
                      <a:pPr>
                        <a:defRPr sz="1300">
                          <a:solidFill>
                            <a:srgbClr val="DDDDDD"/>
                          </a:solidFill>
                        </a:defRPr>
                      </a:pPr>
                      <a:r>
                        <a:rPr sz="1300" b="0">
                          <a:solidFill>
                            <a:srgbClr val="DDDDDD"/>
                          </a:solidFill>
                        </a:rPr>
                        <a:t>R$ 2,102,811</a:t>
                      </a:r>
                    </a:p>
                  </a:txBody>
                  <a:tcPr/>
                </a:tc>
                <a:tc>
                  <a:txBody>
                    <a:bodyPr/>
                    <a:lstStyle/>
                    <a:p>
                      <a:pPr>
                        <a:defRPr sz="1300">
                          <a:solidFill>
                            <a:srgbClr val="DDDDDD"/>
                          </a:solidFill>
                        </a:defRPr>
                      </a:pPr>
                      <a:r>
                        <a:rPr sz="1300" b="0">
                          <a:solidFill>
                            <a:srgbClr val="DDDDDD"/>
                          </a:solidFill>
                        </a:rPr>
                        <a:t>12351</a:t>
                      </a:r>
                    </a:p>
                  </a:txBody>
                  <a:tcPr/>
                </a:tc>
                <a:tc>
                  <a:txBody>
                    <a:bodyPr/>
                    <a:lstStyle/>
                    <a:p>
                      <a:pPr>
                        <a:defRPr sz="1300">
                          <a:solidFill>
                            <a:srgbClr val="DDDDDD"/>
                          </a:solidFill>
                        </a:defRPr>
                      </a:pPr>
                      <a:r>
                        <a:rPr sz="1300" b="0">
                          <a:solidFill>
                            <a:srgbClr val="DDDDDD"/>
                          </a:solidFill>
                        </a:rPr>
                        <a:t>3.9</a:t>
                      </a:r>
                    </a:p>
                  </a:txBody>
                  <a:tcPr/>
                </a:tc>
                <a:tc>
                  <a:txBody>
                    <a:bodyPr/>
                    <a:lstStyle/>
                    <a:p>
                      <a:pPr>
                        <a:defRPr sz="1300">
                          <a:solidFill>
                            <a:srgbClr val="DDDDDD"/>
                          </a:solidFill>
                        </a:defRPr>
                      </a:pPr>
                      <a:r>
                        <a:rPr sz="1300" b="0">
                          <a:solidFill>
                            <a:srgbClr val="DDDDDD"/>
                          </a:solidFill>
                        </a:rPr>
                        <a:t>12.8%</a:t>
                      </a:r>
                    </a:p>
                  </a:txBody>
                  <a:tcPr/>
                </a:tc>
              </a:tr>
              <a:tr h="374072">
                <a:tc>
                  <a:txBody>
                    <a:bodyPr/>
                    <a:lstStyle/>
                    <a:p>
                      <a:pPr>
                        <a:defRPr sz="1300">
                          <a:solidFill>
                            <a:srgbClr val="DDDDDD"/>
                          </a:solidFill>
                        </a:defRPr>
                      </a:pPr>
                      <a:r>
                        <a:rPr sz="1300" b="0">
                          <a:solidFill>
                            <a:srgbClr val="DDDDDD"/>
                          </a:solidFill>
                        </a:rPr>
                        <a:t>MG</a:t>
                      </a:r>
                    </a:p>
                  </a:txBody>
                  <a:tcPr>
                    <a:solidFill>
                      <a:srgbClr val="222244"/>
                    </a:solidFill>
                  </a:tcPr>
                </a:tc>
                <a:tc>
                  <a:txBody>
                    <a:bodyPr/>
                    <a:lstStyle/>
                    <a:p>
                      <a:pPr>
                        <a:defRPr sz="1300">
                          <a:solidFill>
                            <a:srgbClr val="DDDDDD"/>
                          </a:solidFill>
                        </a:defRPr>
                      </a:pPr>
                      <a:r>
                        <a:rPr sz="1300" b="0">
                          <a:solidFill>
                            <a:srgbClr val="DDDDDD"/>
                          </a:solidFill>
                        </a:rPr>
                        <a:t>R$ 1,863,756</a:t>
                      </a:r>
                    </a:p>
                  </a:txBody>
                  <a:tcPr>
                    <a:solidFill>
                      <a:srgbClr val="222244"/>
                    </a:solidFill>
                  </a:tcPr>
                </a:tc>
                <a:tc>
                  <a:txBody>
                    <a:bodyPr/>
                    <a:lstStyle/>
                    <a:p>
                      <a:pPr>
                        <a:defRPr sz="1300">
                          <a:solidFill>
                            <a:srgbClr val="DDDDDD"/>
                          </a:solidFill>
                        </a:defRPr>
                      </a:pPr>
                      <a:r>
                        <a:rPr sz="1300" b="0">
                          <a:solidFill>
                            <a:srgbClr val="DDDDDD"/>
                          </a:solidFill>
                        </a:rPr>
                        <a:t>11392</a:t>
                      </a:r>
                    </a:p>
                  </a:txBody>
                  <a:tcPr>
                    <a:solidFill>
                      <a:srgbClr val="222244"/>
                    </a:solidFill>
                  </a:tcPr>
                </a:tc>
                <a:tc>
                  <a:txBody>
                    <a:bodyPr/>
                    <a:lstStyle/>
                    <a:p>
                      <a:pPr>
                        <a:defRPr sz="1300">
                          <a:solidFill>
                            <a:srgbClr val="DDDDDD"/>
                          </a:solidFill>
                        </a:defRPr>
                      </a:pPr>
                      <a:r>
                        <a:rPr sz="1300" b="0">
                          <a:solidFill>
                            <a:srgbClr val="DDDDDD"/>
                          </a:solidFill>
                        </a:rPr>
                        <a:t>4.2</a:t>
                      </a:r>
                    </a:p>
                  </a:txBody>
                  <a:tcPr>
                    <a:solidFill>
                      <a:srgbClr val="222244"/>
                    </a:solidFill>
                  </a:tcPr>
                </a:tc>
                <a:tc>
                  <a:txBody>
                    <a:bodyPr/>
                    <a:lstStyle/>
                    <a:p>
                      <a:pPr>
                        <a:defRPr sz="1300">
                          <a:solidFill>
                            <a:srgbClr val="DDDDDD"/>
                          </a:solidFill>
                        </a:defRPr>
                      </a:pPr>
                      <a:r>
                        <a:rPr sz="1300" b="0">
                          <a:solidFill>
                            <a:srgbClr val="DDDDDD"/>
                          </a:solidFill>
                        </a:rPr>
                        <a:t>11.4%</a:t>
                      </a:r>
                    </a:p>
                  </a:txBody>
                  <a:tcPr>
                    <a:solidFill>
                      <a:srgbClr val="222244"/>
                    </a:solidFill>
                  </a:tcPr>
                </a:tc>
              </a:tr>
              <a:tr h="374072">
                <a:tc>
                  <a:txBody>
                    <a:bodyPr/>
                    <a:lstStyle/>
                    <a:p>
                      <a:pPr>
                        <a:defRPr sz="1300">
                          <a:solidFill>
                            <a:srgbClr val="DDDDDD"/>
                          </a:solidFill>
                        </a:defRPr>
                      </a:pPr>
                      <a:r>
                        <a:rPr sz="1300" b="0">
                          <a:solidFill>
                            <a:srgbClr val="DDDDDD"/>
                          </a:solidFill>
                        </a:rPr>
                        <a:t>RS</a:t>
                      </a:r>
                    </a:p>
                  </a:txBody>
                  <a:tcPr/>
                </a:tc>
                <a:tc>
                  <a:txBody>
                    <a:bodyPr/>
                    <a:lstStyle/>
                    <a:p>
                      <a:pPr>
                        <a:defRPr sz="1300">
                          <a:solidFill>
                            <a:srgbClr val="DDDDDD"/>
                          </a:solidFill>
                        </a:defRPr>
                      </a:pPr>
                      <a:r>
                        <a:rPr sz="1300" b="0">
                          <a:solidFill>
                            <a:srgbClr val="DDDDDD"/>
                          </a:solidFill>
                        </a:rPr>
                        <a:t>R$ 879,775</a:t>
                      </a:r>
                    </a:p>
                  </a:txBody>
                  <a:tcPr/>
                </a:tc>
                <a:tc>
                  <a:txBody>
                    <a:bodyPr/>
                    <a:lstStyle/>
                    <a:p>
                      <a:pPr>
                        <a:defRPr sz="1300">
                          <a:solidFill>
                            <a:srgbClr val="DDDDDD"/>
                          </a:solidFill>
                        </a:defRPr>
                      </a:pPr>
                      <a:r>
                        <a:rPr sz="1300" b="0">
                          <a:solidFill>
                            <a:srgbClr val="DDDDDD"/>
                          </a:solidFill>
                        </a:rPr>
                        <a:t>5346</a:t>
                      </a:r>
                    </a:p>
                  </a:txBody>
                  <a:tcPr/>
                </a:tc>
                <a:tc>
                  <a:txBody>
                    <a:bodyPr/>
                    <a:lstStyle/>
                    <a:p>
                      <a:pPr>
                        <a:defRPr sz="1300">
                          <a:solidFill>
                            <a:srgbClr val="DDDDDD"/>
                          </a:solidFill>
                        </a:defRPr>
                      </a:pPr>
                      <a:r>
                        <a:rPr sz="1300" b="0">
                          <a:solidFill>
                            <a:srgbClr val="DDDDDD"/>
                          </a:solidFill>
                        </a:rPr>
                        <a:t>4.2</a:t>
                      </a:r>
                    </a:p>
                  </a:txBody>
                  <a:tcPr/>
                </a:tc>
                <a:tc>
                  <a:txBody>
                    <a:bodyPr/>
                    <a:lstStyle/>
                    <a:p>
                      <a:pPr>
                        <a:defRPr sz="1300">
                          <a:solidFill>
                            <a:srgbClr val="DDDDDD"/>
                          </a:solidFill>
                        </a:defRPr>
                      </a:pPr>
                      <a:r>
                        <a:rPr sz="1300" b="0">
                          <a:solidFill>
                            <a:srgbClr val="DDDDDD"/>
                          </a:solidFill>
                        </a:rPr>
                        <a:t>5.4%</a:t>
                      </a:r>
                    </a:p>
                  </a:txBody>
                  <a:tcPr/>
                </a:tc>
              </a:tr>
              <a:tr h="374072">
                <a:tc>
                  <a:txBody>
                    <a:bodyPr/>
                    <a:lstStyle/>
                    <a:p>
                      <a:pPr>
                        <a:defRPr sz="1300">
                          <a:solidFill>
                            <a:srgbClr val="DDDDDD"/>
                          </a:solidFill>
                        </a:defRPr>
                      </a:pPr>
                      <a:r>
                        <a:rPr sz="1300" b="0">
                          <a:solidFill>
                            <a:srgbClr val="DDDDDD"/>
                          </a:solidFill>
                        </a:rPr>
                        <a:t>PR</a:t>
                      </a:r>
                    </a:p>
                  </a:txBody>
                  <a:tcPr>
                    <a:solidFill>
                      <a:srgbClr val="222244"/>
                    </a:solidFill>
                  </a:tcPr>
                </a:tc>
                <a:tc>
                  <a:txBody>
                    <a:bodyPr/>
                    <a:lstStyle/>
                    <a:p>
                      <a:pPr>
                        <a:defRPr sz="1300">
                          <a:solidFill>
                            <a:srgbClr val="DDDDDD"/>
                          </a:solidFill>
                        </a:defRPr>
                      </a:pPr>
                      <a:r>
                        <a:rPr sz="1300" b="0">
                          <a:solidFill>
                            <a:srgbClr val="DDDDDD"/>
                          </a:solidFill>
                        </a:rPr>
                        <a:t>R$ 805,523</a:t>
                      </a:r>
                    </a:p>
                  </a:txBody>
                  <a:tcPr>
                    <a:solidFill>
                      <a:srgbClr val="222244"/>
                    </a:solidFill>
                  </a:tcPr>
                </a:tc>
                <a:tc>
                  <a:txBody>
                    <a:bodyPr/>
                    <a:lstStyle/>
                    <a:p>
                      <a:pPr>
                        <a:defRPr sz="1300">
                          <a:solidFill>
                            <a:srgbClr val="DDDDDD"/>
                          </a:solidFill>
                        </a:defRPr>
                      </a:pPr>
                      <a:r>
                        <a:rPr sz="1300" b="0">
                          <a:solidFill>
                            <a:srgbClr val="DDDDDD"/>
                          </a:solidFill>
                        </a:rPr>
                        <a:t>4918</a:t>
                      </a:r>
                    </a:p>
                  </a:txBody>
                  <a:tcPr>
                    <a:solidFill>
                      <a:srgbClr val="222244"/>
                    </a:solidFill>
                  </a:tcPr>
                </a:tc>
                <a:tc>
                  <a:txBody>
                    <a:bodyPr/>
                    <a:lstStyle/>
                    <a:p>
                      <a:pPr>
                        <a:defRPr sz="1300">
                          <a:solidFill>
                            <a:srgbClr val="DDDDDD"/>
                          </a:solidFill>
                        </a:defRPr>
                      </a:pPr>
                      <a:r>
                        <a:rPr sz="1300" b="0">
                          <a:solidFill>
                            <a:srgbClr val="DDDDDD"/>
                          </a:solidFill>
                        </a:rPr>
                        <a:t>4.2</a:t>
                      </a:r>
                    </a:p>
                  </a:txBody>
                  <a:tcPr>
                    <a:solidFill>
                      <a:srgbClr val="222244"/>
                    </a:solidFill>
                  </a:tcPr>
                </a:tc>
                <a:tc>
                  <a:txBody>
                    <a:bodyPr/>
                    <a:lstStyle/>
                    <a:p>
                      <a:pPr>
                        <a:defRPr sz="1300">
                          <a:solidFill>
                            <a:srgbClr val="DDDDDD"/>
                          </a:solidFill>
                        </a:defRPr>
                      </a:pPr>
                      <a:r>
                        <a:rPr sz="1300" b="0">
                          <a:solidFill>
                            <a:srgbClr val="DDDDDD"/>
                          </a:solidFill>
                        </a:rPr>
                        <a:t>4.9%</a:t>
                      </a:r>
                    </a:p>
                  </a:txBody>
                  <a:tcPr>
                    <a:solidFill>
                      <a:srgbClr val="222244"/>
                    </a:solidFill>
                  </a:tcPr>
                </a:tc>
              </a:tr>
              <a:tr h="374072">
                <a:tc>
                  <a:txBody>
                    <a:bodyPr/>
                    <a:lstStyle/>
                    <a:p>
                      <a:pPr>
                        <a:defRPr sz="1300">
                          <a:solidFill>
                            <a:srgbClr val="DDDDDD"/>
                          </a:solidFill>
                        </a:defRPr>
                      </a:pPr>
                      <a:r>
                        <a:rPr sz="1300" b="0">
                          <a:solidFill>
                            <a:srgbClr val="DDDDDD"/>
                          </a:solidFill>
                        </a:rPr>
                        <a:t>SC</a:t>
                      </a:r>
                    </a:p>
                  </a:txBody>
                  <a:tcPr/>
                </a:tc>
                <a:tc>
                  <a:txBody>
                    <a:bodyPr/>
                    <a:lstStyle/>
                    <a:p>
                      <a:pPr>
                        <a:defRPr sz="1300">
                          <a:solidFill>
                            <a:srgbClr val="DDDDDD"/>
                          </a:solidFill>
                        </a:defRPr>
                      </a:pPr>
                      <a:r>
                        <a:rPr sz="1300" b="0">
                          <a:solidFill>
                            <a:srgbClr val="DDDDDD"/>
                          </a:solidFill>
                        </a:rPr>
                        <a:t>R$ 610,993</a:t>
                      </a:r>
                    </a:p>
                  </a:txBody>
                  <a:tcPr/>
                </a:tc>
                <a:tc>
                  <a:txBody>
                    <a:bodyPr/>
                    <a:lstStyle/>
                    <a:p>
                      <a:pPr>
                        <a:defRPr sz="1300">
                          <a:solidFill>
                            <a:srgbClr val="DDDDDD"/>
                          </a:solidFill>
                        </a:defRPr>
                      </a:pPr>
                      <a:r>
                        <a:rPr sz="1300" b="0">
                          <a:solidFill>
                            <a:srgbClr val="DDDDDD"/>
                          </a:solidFill>
                        </a:rPr>
                        <a:t>3556</a:t>
                      </a:r>
                    </a:p>
                  </a:txBody>
                  <a:tcPr/>
                </a:tc>
                <a:tc>
                  <a:txBody>
                    <a:bodyPr/>
                    <a:lstStyle/>
                    <a:p>
                      <a:pPr>
                        <a:defRPr sz="1300">
                          <a:solidFill>
                            <a:srgbClr val="DDDDDD"/>
                          </a:solidFill>
                        </a:defRPr>
                      </a:pPr>
                      <a:r>
                        <a:rPr sz="1300" b="0">
                          <a:solidFill>
                            <a:srgbClr val="DDDDDD"/>
                          </a:solidFill>
                        </a:rPr>
                        <a:t>4.1</a:t>
                      </a:r>
                    </a:p>
                  </a:txBody>
                  <a:tcPr/>
                </a:tc>
                <a:tc>
                  <a:txBody>
                    <a:bodyPr/>
                    <a:lstStyle/>
                    <a:p>
                      <a:pPr>
                        <a:defRPr sz="1300">
                          <a:solidFill>
                            <a:srgbClr val="DDDDDD"/>
                          </a:solidFill>
                        </a:defRPr>
                      </a:pPr>
                      <a:r>
                        <a:rPr sz="1300" b="0">
                          <a:solidFill>
                            <a:srgbClr val="DDDDDD"/>
                          </a:solidFill>
                        </a:rPr>
                        <a:t>3.7%</a:t>
                      </a:r>
                    </a:p>
                  </a:txBody>
                  <a:tcPr/>
                </a:tc>
              </a:tr>
              <a:tr h="374072">
                <a:tc>
                  <a:txBody>
                    <a:bodyPr/>
                    <a:lstStyle/>
                    <a:p>
                      <a:pPr>
                        <a:defRPr sz="1300">
                          <a:solidFill>
                            <a:srgbClr val="DDDDDD"/>
                          </a:solidFill>
                        </a:defRPr>
                      </a:pPr>
                      <a:r>
                        <a:rPr sz="1300" b="0">
                          <a:solidFill>
                            <a:srgbClr val="DDDDDD"/>
                          </a:solidFill>
                        </a:rPr>
                        <a:t>BA</a:t>
                      </a:r>
                    </a:p>
                  </a:txBody>
                  <a:tcPr>
                    <a:solidFill>
                      <a:srgbClr val="222244"/>
                    </a:solidFill>
                  </a:tcPr>
                </a:tc>
                <a:tc>
                  <a:txBody>
                    <a:bodyPr/>
                    <a:lstStyle/>
                    <a:p>
                      <a:pPr>
                        <a:defRPr sz="1300">
                          <a:solidFill>
                            <a:srgbClr val="DDDDDD"/>
                          </a:solidFill>
                        </a:defRPr>
                      </a:pPr>
                      <a:r>
                        <a:rPr sz="1300" b="0">
                          <a:solidFill>
                            <a:srgbClr val="DDDDDD"/>
                          </a:solidFill>
                        </a:rPr>
                        <a:t>R$ 605,816</a:t>
                      </a:r>
                    </a:p>
                  </a:txBody>
                  <a:tcPr>
                    <a:solidFill>
                      <a:srgbClr val="222244"/>
                    </a:solidFill>
                  </a:tcPr>
                </a:tc>
                <a:tc>
                  <a:txBody>
                    <a:bodyPr/>
                    <a:lstStyle/>
                    <a:p>
                      <a:pPr>
                        <a:defRPr sz="1300">
                          <a:solidFill>
                            <a:srgbClr val="DDDDDD"/>
                          </a:solidFill>
                        </a:defRPr>
                      </a:pPr>
                      <a:r>
                        <a:rPr sz="1300" b="0">
                          <a:solidFill>
                            <a:srgbClr val="DDDDDD"/>
                          </a:solidFill>
                        </a:rPr>
                        <a:t>3271</a:t>
                      </a:r>
                    </a:p>
                  </a:txBody>
                  <a:tcPr>
                    <a:solidFill>
                      <a:srgbClr val="222244"/>
                    </a:solidFill>
                  </a:tcPr>
                </a:tc>
                <a:tc>
                  <a:txBody>
                    <a:bodyPr/>
                    <a:lstStyle/>
                    <a:p>
                      <a:pPr>
                        <a:defRPr sz="1300">
                          <a:solidFill>
                            <a:srgbClr val="DDDDDD"/>
                          </a:solidFill>
                        </a:defRPr>
                      </a:pPr>
                      <a:r>
                        <a:rPr sz="1300" b="0">
                          <a:solidFill>
                            <a:srgbClr val="DDDDDD"/>
                          </a:solidFill>
                        </a:rPr>
                        <a:t>3.9</a:t>
                      </a:r>
                    </a:p>
                  </a:txBody>
                  <a:tcPr>
                    <a:solidFill>
                      <a:srgbClr val="222244"/>
                    </a:solidFill>
                  </a:tcPr>
                </a:tc>
                <a:tc>
                  <a:txBody>
                    <a:bodyPr/>
                    <a:lstStyle/>
                    <a:p>
                      <a:pPr>
                        <a:defRPr sz="1300">
                          <a:solidFill>
                            <a:srgbClr val="DDDDDD"/>
                          </a:solidFill>
                        </a:defRPr>
                      </a:pPr>
                      <a:r>
                        <a:rPr sz="1300" b="0">
                          <a:solidFill>
                            <a:srgbClr val="DDDDDD"/>
                          </a:solidFill>
                        </a:rPr>
                        <a:t>3.7%</a:t>
                      </a:r>
                    </a:p>
                  </a:txBody>
                  <a:tcPr>
                    <a:solidFill>
                      <a:srgbClr val="222244"/>
                    </a:solidFill>
                  </a:tcPr>
                </a:tc>
              </a:tr>
              <a:tr h="374072">
                <a:tc>
                  <a:txBody>
                    <a:bodyPr/>
                    <a:lstStyle/>
                    <a:p>
                      <a:pPr>
                        <a:defRPr sz="1300">
                          <a:solidFill>
                            <a:srgbClr val="DDDDDD"/>
                          </a:solidFill>
                        </a:defRPr>
                      </a:pPr>
                      <a:r>
                        <a:rPr sz="1300" b="0">
                          <a:solidFill>
                            <a:srgbClr val="DDDDDD"/>
                          </a:solidFill>
                        </a:rPr>
                        <a:t>DF</a:t>
                      </a:r>
                    </a:p>
                  </a:txBody>
                  <a:tcPr/>
                </a:tc>
                <a:tc>
                  <a:txBody>
                    <a:bodyPr/>
                    <a:lstStyle/>
                    <a:p>
                      <a:pPr>
                        <a:defRPr sz="1300">
                          <a:solidFill>
                            <a:srgbClr val="DDDDDD"/>
                          </a:solidFill>
                        </a:defRPr>
                      </a:pPr>
                      <a:r>
                        <a:rPr sz="1300" b="0">
                          <a:solidFill>
                            <a:srgbClr val="DDDDDD"/>
                          </a:solidFill>
                        </a:rPr>
                        <a:t>R$ 364,613</a:t>
                      </a:r>
                    </a:p>
                  </a:txBody>
                  <a:tcPr/>
                </a:tc>
                <a:tc>
                  <a:txBody>
                    <a:bodyPr/>
                    <a:lstStyle/>
                    <a:p>
                      <a:pPr>
                        <a:defRPr sz="1300">
                          <a:solidFill>
                            <a:srgbClr val="DDDDDD"/>
                          </a:solidFill>
                        </a:defRPr>
                      </a:pPr>
                      <a:r>
                        <a:rPr sz="1300" b="0">
                          <a:solidFill>
                            <a:srgbClr val="DDDDDD"/>
                          </a:solidFill>
                        </a:rPr>
                        <a:t>2095</a:t>
                      </a:r>
                    </a:p>
                  </a:txBody>
                  <a:tcPr/>
                </a:tc>
                <a:tc>
                  <a:txBody>
                    <a:bodyPr/>
                    <a:lstStyle/>
                    <a:p>
                      <a:pPr>
                        <a:defRPr sz="1300">
                          <a:solidFill>
                            <a:srgbClr val="DDDDDD"/>
                          </a:solidFill>
                        </a:defRPr>
                      </a:pPr>
                      <a:r>
                        <a:rPr sz="1300" b="0">
                          <a:solidFill>
                            <a:srgbClr val="DDDDDD"/>
                          </a:solidFill>
                        </a:rPr>
                        <a:t>4.1</a:t>
                      </a:r>
                    </a:p>
                  </a:txBody>
                  <a:tcPr/>
                </a:tc>
                <a:tc>
                  <a:txBody>
                    <a:bodyPr/>
                    <a:lstStyle/>
                    <a:p>
                      <a:pPr>
                        <a:defRPr sz="1300">
                          <a:solidFill>
                            <a:srgbClr val="DDDDDD"/>
                          </a:solidFill>
                        </a:defRPr>
                      </a:pPr>
                      <a:r>
                        <a:rPr sz="1300" b="0">
                          <a:solidFill>
                            <a:srgbClr val="DDDDDD"/>
                          </a:solidFill>
                        </a:rPr>
                        <a:t>2.2%</a:t>
                      </a:r>
                    </a:p>
                  </a:txBody>
                  <a:tcPr/>
                </a:tc>
              </a:tr>
              <a:tr h="374072">
                <a:tc>
                  <a:txBody>
                    <a:bodyPr/>
                    <a:lstStyle/>
                    <a:p>
                      <a:pPr>
                        <a:defRPr sz="1300">
                          <a:solidFill>
                            <a:srgbClr val="DDDDDD"/>
                          </a:solidFill>
                        </a:defRPr>
                      </a:pPr>
                      <a:r>
                        <a:rPr sz="1300" b="0">
                          <a:solidFill>
                            <a:srgbClr val="DDDDDD"/>
                          </a:solidFill>
                        </a:rPr>
                        <a:t>GO</a:t>
                      </a:r>
                    </a:p>
                  </a:txBody>
                  <a:tcPr>
                    <a:solidFill>
                      <a:srgbClr val="222244"/>
                    </a:solidFill>
                  </a:tcPr>
                </a:tc>
                <a:tc>
                  <a:txBody>
                    <a:bodyPr/>
                    <a:lstStyle/>
                    <a:p>
                      <a:pPr>
                        <a:defRPr sz="1300">
                          <a:solidFill>
                            <a:srgbClr val="DDDDDD"/>
                          </a:solidFill>
                        </a:defRPr>
                      </a:pPr>
                      <a:r>
                        <a:rPr sz="1300" b="0">
                          <a:solidFill>
                            <a:srgbClr val="DDDDDD"/>
                          </a:solidFill>
                        </a:rPr>
                        <a:t>R$ 347,271</a:t>
                      </a:r>
                    </a:p>
                  </a:txBody>
                  <a:tcPr>
                    <a:solidFill>
                      <a:srgbClr val="222244"/>
                    </a:solidFill>
                  </a:tcPr>
                </a:tc>
                <a:tc>
                  <a:txBody>
                    <a:bodyPr/>
                    <a:lstStyle/>
                    <a:p>
                      <a:pPr>
                        <a:defRPr sz="1300">
                          <a:solidFill>
                            <a:srgbClr val="DDDDDD"/>
                          </a:solidFill>
                        </a:defRPr>
                      </a:pPr>
                      <a:r>
                        <a:rPr sz="1300" b="0">
                          <a:solidFill>
                            <a:srgbClr val="DDDDDD"/>
                          </a:solidFill>
                        </a:rPr>
                        <a:t>1969</a:t>
                      </a:r>
                    </a:p>
                  </a:txBody>
                  <a:tcPr>
                    <a:solidFill>
                      <a:srgbClr val="222244"/>
                    </a:solidFill>
                  </a:tcPr>
                </a:tc>
                <a:tc>
                  <a:txBody>
                    <a:bodyPr/>
                    <a:lstStyle/>
                    <a:p>
                      <a:pPr>
                        <a:defRPr sz="1300">
                          <a:solidFill>
                            <a:srgbClr val="DDDDDD"/>
                          </a:solidFill>
                        </a:defRPr>
                      </a:pPr>
                      <a:r>
                        <a:rPr sz="1300" b="0">
                          <a:solidFill>
                            <a:srgbClr val="DDDDDD"/>
                          </a:solidFill>
                        </a:rPr>
                        <a:t>4.1</a:t>
                      </a:r>
                    </a:p>
                  </a:txBody>
                  <a:tcPr>
                    <a:solidFill>
                      <a:srgbClr val="222244"/>
                    </a:solidFill>
                  </a:tcPr>
                </a:tc>
                <a:tc>
                  <a:txBody>
                    <a:bodyPr/>
                    <a:lstStyle/>
                    <a:p>
                      <a:pPr>
                        <a:defRPr sz="1300">
                          <a:solidFill>
                            <a:srgbClr val="DDDDDD"/>
                          </a:solidFill>
                        </a:defRPr>
                      </a:pPr>
                      <a:r>
                        <a:rPr sz="1300" b="0">
                          <a:solidFill>
                            <a:srgbClr val="DDDDDD"/>
                          </a:solidFill>
                        </a:rPr>
                        <a:t>2.1%</a:t>
                      </a:r>
                    </a:p>
                  </a:txBody>
                  <a:tcPr>
                    <a:solidFill>
                      <a:srgbClr val="222244"/>
                    </a:solidFill>
                  </a:tcPr>
                </a:tc>
              </a:tr>
              <a:tr h="374080">
                <a:tc>
                  <a:txBody>
                    <a:bodyPr/>
                    <a:lstStyle/>
                    <a:p>
                      <a:pPr>
                        <a:defRPr sz="1300">
                          <a:solidFill>
                            <a:srgbClr val="DDDDDD"/>
                          </a:solidFill>
                        </a:defRPr>
                      </a:pPr>
                      <a:r>
                        <a:rPr sz="1300" b="0">
                          <a:solidFill>
                            <a:srgbClr val="DDDDDD"/>
                          </a:solidFill>
                        </a:rPr>
                        <a:t>ES</a:t>
                      </a:r>
                    </a:p>
                  </a:txBody>
                  <a:tcPr/>
                </a:tc>
                <a:tc>
                  <a:txBody>
                    <a:bodyPr/>
                    <a:lstStyle/>
                    <a:p>
                      <a:pPr>
                        <a:defRPr sz="1300">
                          <a:solidFill>
                            <a:srgbClr val="DDDDDD"/>
                          </a:solidFill>
                        </a:defRPr>
                      </a:pPr>
                      <a:r>
                        <a:rPr sz="1300" b="0">
                          <a:solidFill>
                            <a:srgbClr val="DDDDDD"/>
                          </a:solidFill>
                        </a:rPr>
                        <a:t>R$ 322,507</a:t>
                      </a:r>
                    </a:p>
                  </a:txBody>
                  <a:tcPr/>
                </a:tc>
                <a:tc>
                  <a:txBody>
                    <a:bodyPr/>
                    <a:lstStyle/>
                    <a:p>
                      <a:pPr>
                        <a:defRPr sz="1300">
                          <a:solidFill>
                            <a:srgbClr val="DDDDDD"/>
                          </a:solidFill>
                        </a:defRPr>
                      </a:pPr>
                      <a:r>
                        <a:rPr sz="1300" b="0">
                          <a:solidFill>
                            <a:srgbClr val="DDDDDD"/>
                          </a:solidFill>
                        </a:rPr>
                        <a:t>1992</a:t>
                      </a:r>
                    </a:p>
                  </a:txBody>
                  <a:tcPr/>
                </a:tc>
                <a:tc>
                  <a:txBody>
                    <a:bodyPr/>
                    <a:lstStyle/>
                    <a:p>
                      <a:pPr>
                        <a:defRPr sz="1300">
                          <a:solidFill>
                            <a:srgbClr val="DDDDDD"/>
                          </a:solidFill>
                        </a:defRPr>
                      </a:pPr>
                      <a:r>
                        <a:rPr sz="1300" b="0">
                          <a:solidFill>
                            <a:srgbClr val="DDDDDD"/>
                          </a:solidFill>
                        </a:rPr>
                        <a:t>4.0</a:t>
                      </a:r>
                    </a:p>
                  </a:txBody>
                  <a:tcPr/>
                </a:tc>
                <a:tc>
                  <a:txBody>
                    <a:bodyPr/>
                    <a:lstStyle/>
                    <a:p>
                      <a:pPr>
                        <a:defRPr sz="1300">
                          <a:solidFill>
                            <a:srgbClr val="DDDDDD"/>
                          </a:solidFill>
                        </a:defRPr>
                      </a:pPr>
                      <a:r>
                        <a:rPr sz="1300" b="0">
                          <a:solidFill>
                            <a:srgbClr val="DDDDDD"/>
                          </a:solidFill>
                        </a:rPr>
                        <a:t>2.0%</a:t>
                      </a:r>
                    </a:p>
                  </a:txBody>
                  <a:tcPr/>
                </a:tc>
              </a:tr>
            </a:tbl>
          </a:graphicData>
        </a:graphic>
      </p:graphicFrame>
      <p:sp>
        <p:nvSpPr>
          <p:cNvPr id="5" name="Rounded Rectangle 4"/>
          <p:cNvSpPr/>
          <p:nvPr/>
        </p:nvSpPr>
        <p:spPr>
          <a:xfrm>
            <a:off x="457200" y="5303520"/>
            <a:ext cx="8229600" cy="1188720"/>
          </a:xfrm>
          <a:prstGeom prst="roundRect">
            <a:avLst/>
          </a:prstGeom>
          <a:solidFill>
            <a:srgbClr val="222244"/>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394960"/>
            <a:ext cx="7863840" cy="1005840"/>
          </a:xfrm>
          <a:prstGeom prst="rect">
            <a:avLst/>
          </a:prstGeom>
          <a:noFill/>
        </p:spPr>
        <p:txBody>
          <a:bodyPr wrap="square">
            <a:spAutoFit/>
          </a:bodyPr>
          <a:lstStyle/>
          <a:p>
            <a:pPr>
              <a:defRPr sz="1500">
                <a:solidFill>
                  <a:srgbClr val="DDDDDD"/>
                </a:solidFill>
              </a:defRPr>
            </a:pPr>
            <a:r>
              <a:rPr sz="1500" b="0">
                <a:solidFill>
                  <a:srgbClr val="DDDDDD"/>
                </a:solidFill>
              </a:rPr>
              <a:t>Les 10 premiers etats representent la majeure partie des revenus. L'Etat de SP domine avec la plus grande part. Les notes moyennes sont generalement elevees dans tous les etats, ce qui indique une qualite de service uniforme sur tout le territoire.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161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548640"/>
          </a:xfrm>
          <a:prstGeom prst="rect">
            <a:avLst/>
          </a:prstGeom>
          <a:noFill/>
        </p:spPr>
        <p:txBody>
          <a:bodyPr wrap="none">
            <a:spAutoFit/>
          </a:bodyPr>
          <a:lstStyle/>
          <a:p>
            <a:pPr>
              <a:defRPr sz="2600" b="1">
                <a:solidFill>
                  <a:srgbClr val="00BFFF"/>
                </a:solidFill>
              </a:defRPr>
            </a:pPr>
            <a:r>
              <a:rPr sz="2600" b="1">
                <a:solidFill>
                  <a:srgbClr val="00BFFF"/>
                </a:solidFill>
              </a:rPr>
              <a:t>Top 10 Categories - Details</a:t>
            </a:r>
          </a:p>
        </p:txBody>
      </p:sp>
      <p:graphicFrame>
        <p:nvGraphicFramePr>
          <p:cNvPr id="4" name="Table 3"/>
          <p:cNvGraphicFramePr>
            <a:graphicFrameLocks noGrp="1"/>
          </p:cNvGraphicFramePr>
          <p:nvPr/>
        </p:nvGraphicFramePr>
        <p:xfrm>
          <a:off x="457200" y="1005840"/>
          <a:ext cx="8229600" cy="411480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374072">
                <a:tc>
                  <a:txBody>
                    <a:bodyPr/>
                    <a:lstStyle/>
                    <a:p>
                      <a:pPr>
                        <a:defRPr sz="1400" b="1">
                          <a:solidFill>
                            <a:srgbClr val="FFFFFF"/>
                          </a:solidFill>
                        </a:defRPr>
                      </a:pPr>
                      <a:r>
                        <a:rPr sz="1400" b="1">
                          <a:solidFill>
                            <a:srgbClr val="FFFFFF"/>
                          </a:solidFill>
                        </a:rPr>
                        <a:t>Categorie</a:t>
                      </a:r>
                    </a:p>
                  </a:txBody>
                  <a:tcPr>
                    <a:solidFill>
                      <a:srgbClr val="006090"/>
                    </a:solidFill>
                  </a:tcPr>
                </a:tc>
                <a:tc>
                  <a:txBody>
                    <a:bodyPr/>
                    <a:lstStyle/>
                    <a:p>
                      <a:pPr>
                        <a:defRPr sz="1400" b="1">
                          <a:solidFill>
                            <a:srgbClr val="FFFFFF"/>
                          </a:solidFill>
                        </a:defRPr>
                      </a:pPr>
                      <a:r>
                        <a:rPr sz="1400" b="1">
                          <a:solidFill>
                            <a:srgbClr val="FFFFFF"/>
                          </a:solidFill>
                        </a:rPr>
                        <a:t>Revenu</a:t>
                      </a:r>
                    </a:p>
                  </a:txBody>
                  <a:tcPr>
                    <a:solidFill>
                      <a:srgbClr val="006090"/>
                    </a:solidFill>
                  </a:tcPr>
                </a:tc>
                <a:tc>
                  <a:txBody>
                    <a:bodyPr/>
                    <a:lstStyle/>
                    <a:p>
                      <a:pPr>
                        <a:defRPr sz="1400" b="1">
                          <a:solidFill>
                            <a:srgbClr val="FFFFFF"/>
                          </a:solidFill>
                        </a:defRPr>
                      </a:pPr>
                      <a:r>
                        <a:rPr sz="1400" b="1">
                          <a:solidFill>
                            <a:srgbClr val="FFFFFF"/>
                          </a:solidFill>
                        </a:rPr>
                        <a:t>Commandes</a:t>
                      </a:r>
                    </a:p>
                  </a:txBody>
                  <a:tcPr>
                    <a:solidFill>
                      <a:srgbClr val="006090"/>
                    </a:solidFill>
                  </a:tcPr>
                </a:tc>
                <a:tc>
                  <a:txBody>
                    <a:bodyPr/>
                    <a:lstStyle/>
                    <a:p>
                      <a:pPr>
                        <a:defRPr sz="1400" b="1">
                          <a:solidFill>
                            <a:srgbClr val="FFFFFF"/>
                          </a:solidFill>
                        </a:defRPr>
                      </a:pPr>
                      <a:r>
                        <a:rPr sz="1400" b="1">
                          <a:solidFill>
                            <a:srgbClr val="FFFFFF"/>
                          </a:solidFill>
                        </a:rPr>
                        <a:t>Prix Moy.</a:t>
                      </a:r>
                    </a:p>
                  </a:txBody>
                  <a:tcPr>
                    <a:solidFill>
                      <a:srgbClr val="006090"/>
                    </a:solidFill>
                  </a:tcPr>
                </a:tc>
                <a:tc>
                  <a:txBody>
                    <a:bodyPr/>
                    <a:lstStyle/>
                    <a:p>
                      <a:pPr>
                        <a:defRPr sz="1400" b="1">
                          <a:solidFill>
                            <a:srgbClr val="FFFFFF"/>
                          </a:solidFill>
                        </a:defRPr>
                      </a:pPr>
                      <a:r>
                        <a:rPr sz="1400" b="1">
                          <a:solidFill>
                            <a:srgbClr val="FFFFFF"/>
                          </a:solidFill>
                        </a:rPr>
                        <a:t>Note Moy.</a:t>
                      </a:r>
                    </a:p>
                  </a:txBody>
                  <a:tcPr>
                    <a:solidFill>
                      <a:srgbClr val="006090"/>
                    </a:solidFill>
                  </a:tcPr>
                </a:tc>
                <a:tc>
                  <a:txBody>
                    <a:bodyPr/>
                    <a:lstStyle/>
                    <a:p>
                      <a:pPr>
                        <a:defRPr sz="1400" b="1">
                          <a:solidFill>
                            <a:srgbClr val="FFFFFF"/>
                          </a:solidFill>
                        </a:defRPr>
                      </a:pPr>
                      <a:r>
                        <a:rPr sz="1400" b="1">
                          <a:solidFill>
                            <a:srgbClr val="FFFFFF"/>
                          </a:solidFill>
                        </a:rPr>
                        <a:t>Part %</a:t>
                      </a:r>
                    </a:p>
                  </a:txBody>
                  <a:tcPr>
                    <a:solidFill>
                      <a:srgbClr val="006090"/>
                    </a:solidFill>
                  </a:tcPr>
                </a:tc>
              </a:tr>
              <a:tr h="374072">
                <a:tc>
                  <a:txBody>
                    <a:bodyPr/>
                    <a:lstStyle/>
                    <a:p>
                      <a:pPr>
                        <a:defRPr sz="1300">
                          <a:solidFill>
                            <a:srgbClr val="DDDDDD"/>
                          </a:solidFill>
                        </a:defRPr>
                      </a:pPr>
                      <a:r>
                        <a:rPr sz="1300" b="0">
                          <a:solidFill>
                            <a:srgbClr val="DDDDDD"/>
                          </a:solidFill>
                        </a:rPr>
                        <a:t>beleza_saude</a:t>
                      </a:r>
                    </a:p>
                  </a:txBody>
                  <a:tcPr>
                    <a:solidFill>
                      <a:srgbClr val="222244"/>
                    </a:solidFill>
                  </a:tcPr>
                </a:tc>
                <a:tc>
                  <a:txBody>
                    <a:bodyPr/>
                    <a:lstStyle/>
                    <a:p>
                      <a:pPr>
                        <a:defRPr sz="1300">
                          <a:solidFill>
                            <a:srgbClr val="DDDDDD"/>
                          </a:solidFill>
                        </a:defRPr>
                      </a:pPr>
                      <a:r>
                        <a:rPr sz="1300" b="0">
                          <a:solidFill>
                            <a:srgbClr val="DDDDDD"/>
                          </a:solidFill>
                        </a:rPr>
                        <a:t>R$ 1,464,559</a:t>
                      </a:r>
                    </a:p>
                  </a:txBody>
                  <a:tcPr>
                    <a:solidFill>
                      <a:srgbClr val="222244"/>
                    </a:solidFill>
                  </a:tcPr>
                </a:tc>
                <a:tc>
                  <a:txBody>
                    <a:bodyPr/>
                    <a:lstStyle/>
                    <a:p>
                      <a:pPr>
                        <a:defRPr sz="1300">
                          <a:solidFill>
                            <a:srgbClr val="DDDDDD"/>
                          </a:solidFill>
                        </a:defRPr>
                      </a:pPr>
                      <a:r>
                        <a:rPr sz="1300" b="0">
                          <a:solidFill>
                            <a:srgbClr val="DDDDDD"/>
                          </a:solidFill>
                        </a:rPr>
                        <a:t>8830</a:t>
                      </a:r>
                    </a:p>
                  </a:txBody>
                  <a:tcPr>
                    <a:solidFill>
                      <a:srgbClr val="222244"/>
                    </a:solidFill>
                  </a:tcPr>
                </a:tc>
                <a:tc>
                  <a:txBody>
                    <a:bodyPr/>
                    <a:lstStyle/>
                    <a:p>
                      <a:pPr>
                        <a:defRPr sz="1300">
                          <a:solidFill>
                            <a:srgbClr val="DDDDDD"/>
                          </a:solidFill>
                        </a:defRPr>
                      </a:pPr>
                      <a:r>
                        <a:rPr sz="1300" b="0">
                          <a:solidFill>
                            <a:srgbClr val="DDDDDD"/>
                          </a:solidFill>
                        </a:rPr>
                        <a:t>R$ 134.62</a:t>
                      </a:r>
                    </a:p>
                  </a:txBody>
                  <a:tcPr>
                    <a:solidFill>
                      <a:srgbClr val="222244"/>
                    </a:solidFill>
                  </a:tcPr>
                </a:tc>
                <a:tc>
                  <a:txBody>
                    <a:bodyPr/>
                    <a:lstStyle/>
                    <a:p>
                      <a:pPr>
                        <a:defRPr sz="1300">
                          <a:solidFill>
                            <a:srgbClr val="DDDDDD"/>
                          </a:solidFill>
                        </a:defRPr>
                      </a:pPr>
                      <a:r>
                        <a:rPr sz="1300" b="0">
                          <a:solidFill>
                            <a:srgbClr val="DDDDDD"/>
                          </a:solidFill>
                        </a:rPr>
                        <a:t>4.2</a:t>
                      </a:r>
                    </a:p>
                  </a:txBody>
                  <a:tcPr>
                    <a:solidFill>
                      <a:srgbClr val="222244"/>
                    </a:solidFill>
                  </a:tcPr>
                </a:tc>
                <a:tc>
                  <a:txBody>
                    <a:bodyPr/>
                    <a:lstStyle/>
                    <a:p>
                      <a:pPr>
                        <a:defRPr sz="1300">
                          <a:solidFill>
                            <a:srgbClr val="DDDDDD"/>
                          </a:solidFill>
                        </a:defRPr>
                      </a:pPr>
                      <a:r>
                        <a:rPr sz="1300" b="0">
                          <a:solidFill>
                            <a:srgbClr val="DDDDDD"/>
                          </a:solidFill>
                        </a:rPr>
                        <a:t>8.9%</a:t>
                      </a:r>
                    </a:p>
                  </a:txBody>
                  <a:tcPr>
                    <a:solidFill>
                      <a:srgbClr val="222244"/>
                    </a:solidFill>
                  </a:tcPr>
                </a:tc>
              </a:tr>
              <a:tr h="374072">
                <a:tc>
                  <a:txBody>
                    <a:bodyPr/>
                    <a:lstStyle/>
                    <a:p>
                      <a:pPr>
                        <a:defRPr sz="1300">
                          <a:solidFill>
                            <a:srgbClr val="DDDDDD"/>
                          </a:solidFill>
                        </a:defRPr>
                      </a:pPr>
                      <a:r>
                        <a:rPr sz="1300" b="0">
                          <a:solidFill>
                            <a:srgbClr val="DDDDDD"/>
                          </a:solidFill>
                        </a:rPr>
                        <a:t>cama_mesa_banho</a:t>
                      </a:r>
                    </a:p>
                  </a:txBody>
                  <a:tcPr/>
                </a:tc>
                <a:tc>
                  <a:txBody>
                    <a:bodyPr/>
                    <a:lstStyle/>
                    <a:p>
                      <a:pPr>
                        <a:defRPr sz="1300">
                          <a:solidFill>
                            <a:srgbClr val="DDDDDD"/>
                          </a:solidFill>
                        </a:defRPr>
                      </a:pPr>
                      <a:r>
                        <a:rPr sz="1300" b="0">
                          <a:solidFill>
                            <a:srgbClr val="DDDDDD"/>
                          </a:solidFill>
                        </a:rPr>
                        <a:t>R$ 1,438,797</a:t>
                      </a:r>
                    </a:p>
                  </a:txBody>
                  <a:tcPr/>
                </a:tc>
                <a:tc>
                  <a:txBody>
                    <a:bodyPr/>
                    <a:lstStyle/>
                    <a:p>
                      <a:pPr>
                        <a:defRPr sz="1300">
                          <a:solidFill>
                            <a:srgbClr val="DDDDDD"/>
                          </a:solidFill>
                        </a:defRPr>
                      </a:pPr>
                      <a:r>
                        <a:rPr sz="1300" b="0">
                          <a:solidFill>
                            <a:srgbClr val="DDDDDD"/>
                          </a:solidFill>
                        </a:rPr>
                        <a:t>10009</a:t>
                      </a:r>
                    </a:p>
                  </a:txBody>
                  <a:tcPr/>
                </a:tc>
                <a:tc>
                  <a:txBody>
                    <a:bodyPr/>
                    <a:lstStyle/>
                    <a:p>
                      <a:pPr>
                        <a:defRPr sz="1300">
                          <a:solidFill>
                            <a:srgbClr val="DDDDDD"/>
                          </a:solidFill>
                        </a:defRPr>
                      </a:pPr>
                      <a:r>
                        <a:rPr sz="1300" b="0">
                          <a:solidFill>
                            <a:srgbClr val="DDDDDD"/>
                          </a:solidFill>
                        </a:rPr>
                        <a:t>R$ 94.98</a:t>
                      </a:r>
                    </a:p>
                  </a:txBody>
                  <a:tcPr/>
                </a:tc>
                <a:tc>
                  <a:txBody>
                    <a:bodyPr/>
                    <a:lstStyle/>
                    <a:p>
                      <a:pPr>
                        <a:defRPr sz="1300">
                          <a:solidFill>
                            <a:srgbClr val="DDDDDD"/>
                          </a:solidFill>
                        </a:defRPr>
                      </a:pPr>
                      <a:r>
                        <a:rPr sz="1300" b="0">
                          <a:solidFill>
                            <a:srgbClr val="DDDDDD"/>
                          </a:solidFill>
                        </a:rPr>
                        <a:t>4.0</a:t>
                      </a:r>
                    </a:p>
                  </a:txBody>
                  <a:tcPr/>
                </a:tc>
                <a:tc>
                  <a:txBody>
                    <a:bodyPr/>
                    <a:lstStyle/>
                    <a:p>
                      <a:pPr>
                        <a:defRPr sz="1300">
                          <a:solidFill>
                            <a:srgbClr val="DDDDDD"/>
                          </a:solidFill>
                        </a:defRPr>
                      </a:pPr>
                      <a:r>
                        <a:rPr sz="1300" b="0">
                          <a:solidFill>
                            <a:srgbClr val="DDDDDD"/>
                          </a:solidFill>
                        </a:rPr>
                        <a:t>8.8%</a:t>
                      </a:r>
                    </a:p>
                  </a:txBody>
                  <a:tcPr/>
                </a:tc>
              </a:tr>
              <a:tr h="374072">
                <a:tc>
                  <a:txBody>
                    <a:bodyPr/>
                    <a:lstStyle/>
                    <a:p>
                      <a:pPr>
                        <a:defRPr sz="1300">
                          <a:solidFill>
                            <a:srgbClr val="DDDDDD"/>
                          </a:solidFill>
                        </a:defRPr>
                      </a:pPr>
                      <a:r>
                        <a:rPr sz="1300" b="0">
                          <a:solidFill>
                            <a:srgbClr val="DDDDDD"/>
                          </a:solidFill>
                        </a:rPr>
                        <a:t>relogios_presentes</a:t>
                      </a:r>
                    </a:p>
                  </a:txBody>
                  <a:tcPr>
                    <a:solidFill>
                      <a:srgbClr val="222244"/>
                    </a:solidFill>
                  </a:tcPr>
                </a:tc>
                <a:tc>
                  <a:txBody>
                    <a:bodyPr/>
                    <a:lstStyle/>
                    <a:p>
                      <a:pPr>
                        <a:defRPr sz="1300">
                          <a:solidFill>
                            <a:srgbClr val="DDDDDD"/>
                          </a:solidFill>
                        </a:defRPr>
                      </a:pPr>
                      <a:r>
                        <a:rPr sz="1300" b="0">
                          <a:solidFill>
                            <a:srgbClr val="DDDDDD"/>
                          </a:solidFill>
                        </a:rPr>
                        <a:t>R$ 1,309,971</a:t>
                      </a:r>
                    </a:p>
                  </a:txBody>
                  <a:tcPr>
                    <a:solidFill>
                      <a:srgbClr val="222244"/>
                    </a:solidFill>
                  </a:tcPr>
                </a:tc>
                <a:tc>
                  <a:txBody>
                    <a:bodyPr/>
                    <a:lstStyle/>
                    <a:p>
                      <a:pPr>
                        <a:defRPr sz="1300">
                          <a:solidFill>
                            <a:srgbClr val="DDDDDD"/>
                          </a:solidFill>
                        </a:defRPr>
                      </a:pPr>
                      <a:r>
                        <a:rPr sz="1300" b="0">
                          <a:solidFill>
                            <a:srgbClr val="DDDDDD"/>
                          </a:solidFill>
                        </a:rPr>
                        <a:t>5670</a:t>
                      </a:r>
                    </a:p>
                  </a:txBody>
                  <a:tcPr>
                    <a:solidFill>
                      <a:srgbClr val="222244"/>
                    </a:solidFill>
                  </a:tcPr>
                </a:tc>
                <a:tc>
                  <a:txBody>
                    <a:bodyPr/>
                    <a:lstStyle/>
                    <a:p>
                      <a:pPr>
                        <a:defRPr sz="1300">
                          <a:solidFill>
                            <a:srgbClr val="DDDDDD"/>
                          </a:solidFill>
                        </a:defRPr>
                      </a:pPr>
                      <a:r>
                        <a:rPr sz="1300" b="0">
                          <a:solidFill>
                            <a:srgbClr val="DDDDDD"/>
                          </a:solidFill>
                        </a:rPr>
                        <a:t>R$ 202.63</a:t>
                      </a:r>
                    </a:p>
                  </a:txBody>
                  <a:tcPr>
                    <a:solidFill>
                      <a:srgbClr val="222244"/>
                    </a:solidFill>
                  </a:tcPr>
                </a:tc>
                <a:tc>
                  <a:txBody>
                    <a:bodyPr/>
                    <a:lstStyle/>
                    <a:p>
                      <a:pPr>
                        <a:defRPr sz="1300">
                          <a:solidFill>
                            <a:srgbClr val="DDDDDD"/>
                          </a:solidFill>
                        </a:defRPr>
                      </a:pPr>
                      <a:r>
                        <a:rPr sz="1300" b="0">
                          <a:solidFill>
                            <a:srgbClr val="DDDDDD"/>
                          </a:solidFill>
                        </a:rPr>
                        <a:t>4.1</a:t>
                      </a:r>
                    </a:p>
                  </a:txBody>
                  <a:tcPr>
                    <a:solidFill>
                      <a:srgbClr val="222244"/>
                    </a:solidFill>
                  </a:tcPr>
                </a:tc>
                <a:tc>
                  <a:txBody>
                    <a:bodyPr/>
                    <a:lstStyle/>
                    <a:p>
                      <a:pPr>
                        <a:defRPr sz="1300">
                          <a:solidFill>
                            <a:srgbClr val="DDDDDD"/>
                          </a:solidFill>
                        </a:defRPr>
                      </a:pPr>
                      <a:r>
                        <a:rPr sz="1300" b="0">
                          <a:solidFill>
                            <a:srgbClr val="DDDDDD"/>
                          </a:solidFill>
                        </a:rPr>
                        <a:t>8.0%</a:t>
                      </a:r>
                    </a:p>
                  </a:txBody>
                  <a:tcPr>
                    <a:solidFill>
                      <a:srgbClr val="222244"/>
                    </a:solidFill>
                  </a:tcPr>
                </a:tc>
              </a:tr>
              <a:tr h="374072">
                <a:tc>
                  <a:txBody>
                    <a:bodyPr/>
                    <a:lstStyle/>
                    <a:p>
                      <a:pPr>
                        <a:defRPr sz="1300">
                          <a:solidFill>
                            <a:srgbClr val="DDDDDD"/>
                          </a:solidFill>
                        </a:defRPr>
                      </a:pPr>
                      <a:r>
                        <a:rPr sz="1300" b="0">
                          <a:solidFill>
                            <a:srgbClr val="DDDDDD"/>
                          </a:solidFill>
                        </a:rPr>
                        <a:t>esporte_lazer</a:t>
                      </a:r>
                    </a:p>
                  </a:txBody>
                  <a:tcPr/>
                </a:tc>
                <a:tc>
                  <a:txBody>
                    <a:bodyPr/>
                    <a:lstStyle/>
                    <a:p>
                      <a:pPr>
                        <a:defRPr sz="1300">
                          <a:solidFill>
                            <a:srgbClr val="DDDDDD"/>
                          </a:solidFill>
                        </a:defRPr>
                      </a:pPr>
                      <a:r>
                        <a:rPr sz="1300" b="0">
                          <a:solidFill>
                            <a:srgbClr val="DDDDDD"/>
                          </a:solidFill>
                        </a:rPr>
                        <a:t>R$ 1,164,465</a:t>
                      </a:r>
                    </a:p>
                  </a:txBody>
                  <a:tcPr/>
                </a:tc>
                <a:tc>
                  <a:txBody>
                    <a:bodyPr/>
                    <a:lstStyle/>
                    <a:p>
                      <a:pPr>
                        <a:defRPr sz="1300">
                          <a:solidFill>
                            <a:srgbClr val="DDDDDD"/>
                          </a:solidFill>
                        </a:defRPr>
                      </a:pPr>
                      <a:r>
                        <a:rPr sz="1300" b="0">
                          <a:solidFill>
                            <a:srgbClr val="DDDDDD"/>
                          </a:solidFill>
                        </a:rPr>
                        <a:t>7666</a:t>
                      </a:r>
                    </a:p>
                  </a:txBody>
                  <a:tcPr/>
                </a:tc>
                <a:tc>
                  <a:txBody>
                    <a:bodyPr/>
                    <a:lstStyle/>
                    <a:p>
                      <a:pPr>
                        <a:defRPr sz="1300">
                          <a:solidFill>
                            <a:srgbClr val="DDDDDD"/>
                          </a:solidFill>
                        </a:defRPr>
                      </a:pPr>
                      <a:r>
                        <a:rPr sz="1300" b="0">
                          <a:solidFill>
                            <a:srgbClr val="DDDDDD"/>
                          </a:solidFill>
                        </a:rPr>
                        <a:t>R$ 117.09</a:t>
                      </a:r>
                    </a:p>
                  </a:txBody>
                  <a:tcPr/>
                </a:tc>
                <a:tc>
                  <a:txBody>
                    <a:bodyPr/>
                    <a:lstStyle/>
                    <a:p>
                      <a:pPr>
                        <a:defRPr sz="1300">
                          <a:solidFill>
                            <a:srgbClr val="DDDDDD"/>
                          </a:solidFill>
                        </a:defRPr>
                      </a:pPr>
                      <a:r>
                        <a:rPr sz="1300" b="0">
                          <a:solidFill>
                            <a:srgbClr val="DDDDDD"/>
                          </a:solidFill>
                        </a:rPr>
                        <a:t>4.2</a:t>
                      </a:r>
                    </a:p>
                  </a:txBody>
                  <a:tcPr/>
                </a:tc>
                <a:tc>
                  <a:txBody>
                    <a:bodyPr/>
                    <a:lstStyle/>
                    <a:p>
                      <a:pPr>
                        <a:defRPr sz="1300">
                          <a:solidFill>
                            <a:srgbClr val="DDDDDD"/>
                          </a:solidFill>
                        </a:defRPr>
                      </a:pPr>
                      <a:r>
                        <a:rPr sz="1300" b="0">
                          <a:solidFill>
                            <a:srgbClr val="DDDDDD"/>
                          </a:solidFill>
                        </a:rPr>
                        <a:t>7.1%</a:t>
                      </a:r>
                    </a:p>
                  </a:txBody>
                  <a:tcPr/>
                </a:tc>
              </a:tr>
              <a:tr h="374072">
                <a:tc>
                  <a:txBody>
                    <a:bodyPr/>
                    <a:lstStyle/>
                    <a:p>
                      <a:pPr>
                        <a:defRPr sz="1300">
                          <a:solidFill>
                            <a:srgbClr val="DDDDDD"/>
                          </a:solidFill>
                        </a:defRPr>
                      </a:pPr>
                      <a:r>
                        <a:rPr sz="1300" b="0">
                          <a:solidFill>
                            <a:srgbClr val="DDDDDD"/>
                          </a:solidFill>
                        </a:rPr>
                        <a:t>informatica_acessorios</a:t>
                      </a:r>
                    </a:p>
                  </a:txBody>
                  <a:tcPr>
                    <a:solidFill>
                      <a:srgbClr val="222244"/>
                    </a:solidFill>
                  </a:tcPr>
                </a:tc>
                <a:tc>
                  <a:txBody>
                    <a:bodyPr/>
                    <a:lstStyle/>
                    <a:p>
                      <a:pPr>
                        <a:defRPr sz="1300">
                          <a:solidFill>
                            <a:srgbClr val="DDDDDD"/>
                          </a:solidFill>
                        </a:defRPr>
                      </a:pPr>
                      <a:r>
                        <a:rPr sz="1300" b="0">
                          <a:solidFill>
                            <a:srgbClr val="DDDDDD"/>
                          </a:solidFill>
                        </a:rPr>
                        <a:t>R$ 1,119,677</a:t>
                      </a:r>
                    </a:p>
                  </a:txBody>
                  <a:tcPr>
                    <a:solidFill>
                      <a:srgbClr val="222244"/>
                    </a:solidFill>
                  </a:tcPr>
                </a:tc>
                <a:tc>
                  <a:txBody>
                    <a:bodyPr/>
                    <a:lstStyle/>
                    <a:p>
                      <a:pPr>
                        <a:defRPr sz="1300">
                          <a:solidFill>
                            <a:srgbClr val="DDDDDD"/>
                          </a:solidFill>
                        </a:defRPr>
                      </a:pPr>
                      <a:r>
                        <a:rPr sz="1300" b="0">
                          <a:solidFill>
                            <a:srgbClr val="DDDDDD"/>
                          </a:solidFill>
                        </a:rPr>
                        <a:t>6724</a:t>
                      </a:r>
                    </a:p>
                  </a:txBody>
                  <a:tcPr>
                    <a:solidFill>
                      <a:srgbClr val="222244"/>
                    </a:solidFill>
                  </a:tcPr>
                </a:tc>
                <a:tc>
                  <a:txBody>
                    <a:bodyPr/>
                    <a:lstStyle/>
                    <a:p>
                      <a:pPr>
                        <a:defRPr sz="1300">
                          <a:solidFill>
                            <a:srgbClr val="DDDDDD"/>
                          </a:solidFill>
                        </a:defRPr>
                      </a:pPr>
                      <a:r>
                        <a:rPr sz="1300" b="0">
                          <a:solidFill>
                            <a:srgbClr val="DDDDDD"/>
                          </a:solidFill>
                        </a:rPr>
                        <a:t>R$ 116.81</a:t>
                      </a:r>
                    </a:p>
                  </a:txBody>
                  <a:tcPr>
                    <a:solidFill>
                      <a:srgbClr val="222244"/>
                    </a:solidFill>
                  </a:tcPr>
                </a:tc>
                <a:tc>
                  <a:txBody>
                    <a:bodyPr/>
                    <a:lstStyle/>
                    <a:p>
                      <a:pPr>
                        <a:defRPr sz="1300">
                          <a:solidFill>
                            <a:srgbClr val="DDDDDD"/>
                          </a:solidFill>
                        </a:defRPr>
                      </a:pPr>
                      <a:r>
                        <a:rPr sz="1300" b="0">
                          <a:solidFill>
                            <a:srgbClr val="DDDDDD"/>
                          </a:solidFill>
                        </a:rPr>
                        <a:t>4.1</a:t>
                      </a:r>
                    </a:p>
                  </a:txBody>
                  <a:tcPr>
                    <a:solidFill>
                      <a:srgbClr val="222244"/>
                    </a:solidFill>
                  </a:tcPr>
                </a:tc>
                <a:tc>
                  <a:txBody>
                    <a:bodyPr/>
                    <a:lstStyle/>
                    <a:p>
                      <a:pPr>
                        <a:defRPr sz="1300">
                          <a:solidFill>
                            <a:srgbClr val="DDDDDD"/>
                          </a:solidFill>
                        </a:defRPr>
                      </a:pPr>
                      <a:r>
                        <a:rPr sz="1300" b="0">
                          <a:solidFill>
                            <a:srgbClr val="DDDDDD"/>
                          </a:solidFill>
                        </a:rPr>
                        <a:t>6.8%</a:t>
                      </a:r>
                    </a:p>
                  </a:txBody>
                  <a:tcPr>
                    <a:solidFill>
                      <a:srgbClr val="222244"/>
                    </a:solidFill>
                  </a:tcPr>
                </a:tc>
              </a:tr>
              <a:tr h="374072">
                <a:tc>
                  <a:txBody>
                    <a:bodyPr/>
                    <a:lstStyle/>
                    <a:p>
                      <a:pPr>
                        <a:defRPr sz="1300">
                          <a:solidFill>
                            <a:srgbClr val="DDDDDD"/>
                          </a:solidFill>
                        </a:defRPr>
                      </a:pPr>
                      <a:r>
                        <a:rPr sz="1300" b="0">
                          <a:solidFill>
                            <a:srgbClr val="DDDDDD"/>
                          </a:solidFill>
                        </a:rPr>
                        <a:t>moveis_decoracao</a:t>
                      </a:r>
                    </a:p>
                  </a:txBody>
                  <a:tcPr/>
                </a:tc>
                <a:tc>
                  <a:txBody>
                    <a:bodyPr/>
                    <a:lstStyle/>
                    <a:p>
                      <a:pPr>
                        <a:defRPr sz="1300">
                          <a:solidFill>
                            <a:srgbClr val="DDDDDD"/>
                          </a:solidFill>
                        </a:defRPr>
                      </a:pPr>
                      <a:r>
                        <a:rPr sz="1300" b="0">
                          <a:solidFill>
                            <a:srgbClr val="DDDDDD"/>
                          </a:solidFill>
                        </a:rPr>
                        <a:t>R$ 999,769</a:t>
                      </a:r>
                    </a:p>
                  </a:txBody>
                  <a:tcPr/>
                </a:tc>
                <a:tc>
                  <a:txBody>
                    <a:bodyPr/>
                    <a:lstStyle/>
                    <a:p>
                      <a:pPr>
                        <a:defRPr sz="1300">
                          <a:solidFill>
                            <a:srgbClr val="DDDDDD"/>
                          </a:solidFill>
                        </a:defRPr>
                      </a:pPr>
                      <a:r>
                        <a:rPr sz="1300" b="0">
                          <a:solidFill>
                            <a:srgbClr val="DDDDDD"/>
                          </a:solidFill>
                        </a:rPr>
                        <a:t>6636</a:t>
                      </a:r>
                    </a:p>
                  </a:txBody>
                  <a:tcPr/>
                </a:tc>
                <a:tc>
                  <a:txBody>
                    <a:bodyPr/>
                    <a:lstStyle/>
                    <a:p>
                      <a:pPr>
                        <a:defRPr sz="1300">
                          <a:solidFill>
                            <a:srgbClr val="DDDDDD"/>
                          </a:solidFill>
                        </a:defRPr>
                      </a:pPr>
                      <a:r>
                        <a:rPr sz="1300" b="0">
                          <a:solidFill>
                            <a:srgbClr val="DDDDDD"/>
                          </a:solidFill>
                        </a:rPr>
                        <a:t>R$ 93.16</a:t>
                      </a:r>
                    </a:p>
                  </a:txBody>
                  <a:tcPr/>
                </a:tc>
                <a:tc>
                  <a:txBody>
                    <a:bodyPr/>
                    <a:lstStyle/>
                    <a:p>
                      <a:pPr>
                        <a:defRPr sz="1300">
                          <a:solidFill>
                            <a:srgbClr val="DDDDDD"/>
                          </a:solidFill>
                        </a:defRPr>
                      </a:pPr>
                      <a:r>
                        <a:rPr sz="1300" b="0">
                          <a:solidFill>
                            <a:srgbClr val="DDDDDD"/>
                          </a:solidFill>
                        </a:rPr>
                        <a:t>4.0</a:t>
                      </a:r>
                    </a:p>
                  </a:txBody>
                  <a:tcPr/>
                </a:tc>
                <a:tc>
                  <a:txBody>
                    <a:bodyPr/>
                    <a:lstStyle/>
                    <a:p>
                      <a:pPr>
                        <a:defRPr sz="1300">
                          <a:solidFill>
                            <a:srgbClr val="DDDDDD"/>
                          </a:solidFill>
                        </a:defRPr>
                      </a:pPr>
                      <a:r>
                        <a:rPr sz="1300" b="0">
                          <a:solidFill>
                            <a:srgbClr val="DDDDDD"/>
                          </a:solidFill>
                        </a:rPr>
                        <a:t>6.1%</a:t>
                      </a:r>
                    </a:p>
                  </a:txBody>
                  <a:tcPr/>
                </a:tc>
              </a:tr>
              <a:tr h="374072">
                <a:tc>
                  <a:txBody>
                    <a:bodyPr/>
                    <a:lstStyle/>
                    <a:p>
                      <a:pPr>
                        <a:defRPr sz="1300">
                          <a:solidFill>
                            <a:srgbClr val="DDDDDD"/>
                          </a:solidFill>
                        </a:defRPr>
                      </a:pPr>
                      <a:r>
                        <a:rPr sz="1300" b="0">
                          <a:solidFill>
                            <a:srgbClr val="DDDDDD"/>
                          </a:solidFill>
                        </a:rPr>
                        <a:t>utilidades_domesticas</a:t>
                      </a:r>
                    </a:p>
                  </a:txBody>
                  <a:tcPr>
                    <a:solidFill>
                      <a:srgbClr val="222244"/>
                    </a:solidFill>
                  </a:tcPr>
                </a:tc>
                <a:tc>
                  <a:txBody>
                    <a:bodyPr/>
                    <a:lstStyle/>
                    <a:p>
                      <a:pPr>
                        <a:defRPr sz="1300">
                          <a:solidFill>
                            <a:srgbClr val="DDDDDD"/>
                          </a:solidFill>
                        </a:defRPr>
                      </a:pPr>
                      <a:r>
                        <a:rPr sz="1300" b="0">
                          <a:solidFill>
                            <a:srgbClr val="DDDDDD"/>
                          </a:solidFill>
                        </a:rPr>
                        <a:t>R$ 803,939</a:t>
                      </a:r>
                    </a:p>
                  </a:txBody>
                  <a:tcPr>
                    <a:solidFill>
                      <a:srgbClr val="222244"/>
                    </a:solidFill>
                  </a:tcPr>
                </a:tc>
                <a:tc>
                  <a:txBody>
                    <a:bodyPr/>
                    <a:lstStyle/>
                    <a:p>
                      <a:pPr>
                        <a:defRPr sz="1300">
                          <a:solidFill>
                            <a:srgbClr val="DDDDDD"/>
                          </a:solidFill>
                        </a:defRPr>
                      </a:pPr>
                      <a:r>
                        <a:rPr sz="1300" b="0">
                          <a:solidFill>
                            <a:srgbClr val="DDDDDD"/>
                          </a:solidFill>
                        </a:rPr>
                        <a:t>5878</a:t>
                      </a:r>
                    </a:p>
                  </a:txBody>
                  <a:tcPr>
                    <a:solidFill>
                      <a:srgbClr val="222244"/>
                    </a:solidFill>
                  </a:tcPr>
                </a:tc>
                <a:tc>
                  <a:txBody>
                    <a:bodyPr/>
                    <a:lstStyle/>
                    <a:p>
                      <a:pPr>
                        <a:defRPr sz="1300">
                          <a:solidFill>
                            <a:srgbClr val="DDDDDD"/>
                          </a:solidFill>
                        </a:defRPr>
                      </a:pPr>
                      <a:r>
                        <a:rPr sz="1300" b="0">
                          <a:solidFill>
                            <a:srgbClr val="DDDDDD"/>
                          </a:solidFill>
                        </a:rPr>
                        <a:t>R$ 95.00</a:t>
                      </a:r>
                    </a:p>
                  </a:txBody>
                  <a:tcPr>
                    <a:solidFill>
                      <a:srgbClr val="222244"/>
                    </a:solidFill>
                  </a:tcPr>
                </a:tc>
                <a:tc>
                  <a:txBody>
                    <a:bodyPr/>
                    <a:lstStyle/>
                    <a:p>
                      <a:pPr>
                        <a:defRPr sz="1300">
                          <a:solidFill>
                            <a:srgbClr val="DDDDDD"/>
                          </a:solidFill>
                        </a:defRPr>
                      </a:pPr>
                      <a:r>
                        <a:rPr sz="1300" b="0">
                          <a:solidFill>
                            <a:srgbClr val="DDDDDD"/>
                          </a:solidFill>
                        </a:rPr>
                        <a:t>4.2</a:t>
                      </a:r>
                    </a:p>
                  </a:txBody>
                  <a:tcPr>
                    <a:solidFill>
                      <a:srgbClr val="222244"/>
                    </a:solidFill>
                  </a:tcPr>
                </a:tc>
                <a:tc>
                  <a:txBody>
                    <a:bodyPr/>
                    <a:lstStyle/>
                    <a:p>
                      <a:pPr>
                        <a:defRPr sz="1300">
                          <a:solidFill>
                            <a:srgbClr val="DDDDDD"/>
                          </a:solidFill>
                        </a:defRPr>
                      </a:pPr>
                      <a:r>
                        <a:rPr sz="1300" b="0">
                          <a:solidFill>
                            <a:srgbClr val="DDDDDD"/>
                          </a:solidFill>
                        </a:rPr>
                        <a:t>4.9%</a:t>
                      </a:r>
                    </a:p>
                  </a:txBody>
                  <a:tcPr>
                    <a:solidFill>
                      <a:srgbClr val="222244"/>
                    </a:solidFill>
                  </a:tcPr>
                </a:tc>
              </a:tr>
              <a:tr h="374072">
                <a:tc>
                  <a:txBody>
                    <a:bodyPr/>
                    <a:lstStyle/>
                    <a:p>
                      <a:pPr>
                        <a:defRPr sz="1300">
                          <a:solidFill>
                            <a:srgbClr val="DDDDDD"/>
                          </a:solidFill>
                        </a:defRPr>
                      </a:pPr>
                      <a:r>
                        <a:rPr sz="1300" b="0">
                          <a:solidFill>
                            <a:srgbClr val="DDDDDD"/>
                          </a:solidFill>
                        </a:rPr>
                        <a:t>cool_stuff</a:t>
                      </a:r>
                    </a:p>
                  </a:txBody>
                  <a:tcPr/>
                </a:tc>
                <a:tc>
                  <a:txBody>
                    <a:bodyPr/>
                    <a:lstStyle/>
                    <a:p>
                      <a:pPr>
                        <a:defRPr sz="1300">
                          <a:solidFill>
                            <a:srgbClr val="DDDDDD"/>
                          </a:solidFill>
                        </a:defRPr>
                      </a:pPr>
                      <a:r>
                        <a:rPr sz="1300" b="0">
                          <a:solidFill>
                            <a:srgbClr val="DDDDDD"/>
                          </a:solidFill>
                        </a:rPr>
                        <a:t>R$ 708,357</a:t>
                      </a:r>
                    </a:p>
                  </a:txBody>
                  <a:tcPr/>
                </a:tc>
                <a:tc>
                  <a:txBody>
                    <a:bodyPr/>
                    <a:lstStyle/>
                    <a:p>
                      <a:pPr>
                        <a:defRPr sz="1300">
                          <a:solidFill>
                            <a:srgbClr val="DDDDDD"/>
                          </a:solidFill>
                        </a:defRPr>
                      </a:pPr>
                      <a:r>
                        <a:rPr sz="1300" b="0">
                          <a:solidFill>
                            <a:srgbClr val="DDDDDD"/>
                          </a:solidFill>
                        </a:rPr>
                        <a:t>3584</a:t>
                      </a:r>
                    </a:p>
                  </a:txBody>
                  <a:tcPr/>
                </a:tc>
                <a:tc>
                  <a:txBody>
                    <a:bodyPr/>
                    <a:lstStyle/>
                    <a:p>
                      <a:pPr>
                        <a:defRPr sz="1300">
                          <a:solidFill>
                            <a:srgbClr val="DDDDDD"/>
                          </a:solidFill>
                        </a:defRPr>
                      </a:pPr>
                      <a:r>
                        <a:rPr sz="1300" b="0">
                          <a:solidFill>
                            <a:srgbClr val="DDDDDD"/>
                          </a:solidFill>
                        </a:rPr>
                        <a:t>R$ 167.26</a:t>
                      </a:r>
                    </a:p>
                  </a:txBody>
                  <a:tcPr/>
                </a:tc>
                <a:tc>
                  <a:txBody>
                    <a:bodyPr/>
                    <a:lstStyle/>
                    <a:p>
                      <a:pPr>
                        <a:defRPr sz="1300">
                          <a:solidFill>
                            <a:srgbClr val="DDDDDD"/>
                          </a:solidFill>
                        </a:defRPr>
                      </a:pPr>
                      <a:r>
                        <a:rPr sz="1300" b="0">
                          <a:solidFill>
                            <a:srgbClr val="DDDDDD"/>
                          </a:solidFill>
                        </a:rPr>
                        <a:t>4.2</a:t>
                      </a:r>
                    </a:p>
                  </a:txBody>
                  <a:tcPr/>
                </a:tc>
                <a:tc>
                  <a:txBody>
                    <a:bodyPr/>
                    <a:lstStyle/>
                    <a:p>
                      <a:pPr>
                        <a:defRPr sz="1300">
                          <a:solidFill>
                            <a:srgbClr val="DDDDDD"/>
                          </a:solidFill>
                        </a:defRPr>
                      </a:pPr>
                      <a:r>
                        <a:rPr sz="1300" b="0">
                          <a:solidFill>
                            <a:srgbClr val="DDDDDD"/>
                          </a:solidFill>
                        </a:rPr>
                        <a:t>4.3%</a:t>
                      </a:r>
                    </a:p>
                  </a:txBody>
                  <a:tcPr/>
                </a:tc>
              </a:tr>
              <a:tr h="374072">
                <a:tc>
                  <a:txBody>
                    <a:bodyPr/>
                    <a:lstStyle/>
                    <a:p>
                      <a:pPr>
                        <a:defRPr sz="1300">
                          <a:solidFill>
                            <a:srgbClr val="DDDDDD"/>
                          </a:solidFill>
                        </a:defRPr>
                      </a:pPr>
                      <a:r>
                        <a:rPr sz="1300" b="0">
                          <a:solidFill>
                            <a:srgbClr val="DDDDDD"/>
                          </a:solidFill>
                        </a:rPr>
                        <a:t>automotivo</a:t>
                      </a:r>
                    </a:p>
                  </a:txBody>
                  <a:tcPr>
                    <a:solidFill>
                      <a:srgbClr val="222244"/>
                    </a:solidFill>
                  </a:tcPr>
                </a:tc>
                <a:tc>
                  <a:txBody>
                    <a:bodyPr/>
                    <a:lstStyle/>
                    <a:p>
                      <a:pPr>
                        <a:defRPr sz="1300">
                          <a:solidFill>
                            <a:srgbClr val="DDDDDD"/>
                          </a:solidFill>
                        </a:defRPr>
                      </a:pPr>
                      <a:r>
                        <a:rPr sz="1300" b="0">
                          <a:solidFill>
                            <a:srgbClr val="DDDDDD"/>
                          </a:solidFill>
                        </a:rPr>
                        <a:t>R$ 700,780</a:t>
                      </a:r>
                    </a:p>
                  </a:txBody>
                  <a:tcPr>
                    <a:solidFill>
                      <a:srgbClr val="222244"/>
                    </a:solidFill>
                  </a:tcPr>
                </a:tc>
                <a:tc>
                  <a:txBody>
                    <a:bodyPr/>
                    <a:lstStyle/>
                    <a:p>
                      <a:pPr>
                        <a:defRPr sz="1300">
                          <a:solidFill>
                            <a:srgbClr val="DDDDDD"/>
                          </a:solidFill>
                        </a:defRPr>
                      </a:pPr>
                      <a:r>
                        <a:rPr sz="1300" b="0">
                          <a:solidFill>
                            <a:srgbClr val="DDDDDD"/>
                          </a:solidFill>
                        </a:rPr>
                        <a:t>3902</a:t>
                      </a:r>
                    </a:p>
                  </a:txBody>
                  <a:tcPr>
                    <a:solidFill>
                      <a:srgbClr val="222244"/>
                    </a:solidFill>
                  </a:tcPr>
                </a:tc>
                <a:tc>
                  <a:txBody>
                    <a:bodyPr/>
                    <a:lstStyle/>
                    <a:p>
                      <a:pPr>
                        <a:defRPr sz="1300">
                          <a:solidFill>
                            <a:srgbClr val="DDDDDD"/>
                          </a:solidFill>
                        </a:defRPr>
                      </a:pPr>
                      <a:r>
                        <a:rPr sz="1300" b="0">
                          <a:solidFill>
                            <a:srgbClr val="DDDDDD"/>
                          </a:solidFill>
                        </a:rPr>
                        <a:t>R$ 141.07</a:t>
                      </a:r>
                    </a:p>
                  </a:txBody>
                  <a:tcPr>
                    <a:solidFill>
                      <a:srgbClr val="222244"/>
                    </a:solidFill>
                  </a:tcPr>
                </a:tc>
                <a:tc>
                  <a:txBody>
                    <a:bodyPr/>
                    <a:lstStyle/>
                    <a:p>
                      <a:pPr>
                        <a:defRPr sz="1300">
                          <a:solidFill>
                            <a:srgbClr val="DDDDDD"/>
                          </a:solidFill>
                        </a:defRPr>
                      </a:pPr>
                      <a:r>
                        <a:rPr sz="1300" b="0">
                          <a:solidFill>
                            <a:srgbClr val="DDDDDD"/>
                          </a:solidFill>
                        </a:rPr>
                        <a:t>4.1</a:t>
                      </a:r>
                    </a:p>
                  </a:txBody>
                  <a:tcPr>
                    <a:solidFill>
                      <a:srgbClr val="222244"/>
                    </a:solidFill>
                  </a:tcPr>
                </a:tc>
                <a:tc>
                  <a:txBody>
                    <a:bodyPr/>
                    <a:lstStyle/>
                    <a:p>
                      <a:pPr>
                        <a:defRPr sz="1300">
                          <a:solidFill>
                            <a:srgbClr val="DDDDDD"/>
                          </a:solidFill>
                        </a:defRPr>
                      </a:pPr>
                      <a:r>
                        <a:rPr sz="1300" b="0">
                          <a:solidFill>
                            <a:srgbClr val="DDDDDD"/>
                          </a:solidFill>
                        </a:rPr>
                        <a:t>4.3%</a:t>
                      </a:r>
                    </a:p>
                  </a:txBody>
                  <a:tcPr>
                    <a:solidFill>
                      <a:srgbClr val="222244"/>
                    </a:solidFill>
                  </a:tcPr>
                </a:tc>
              </a:tr>
              <a:tr h="374080">
                <a:tc>
                  <a:txBody>
                    <a:bodyPr/>
                    <a:lstStyle/>
                    <a:p>
                      <a:pPr>
                        <a:defRPr sz="1300">
                          <a:solidFill>
                            <a:srgbClr val="DDDDDD"/>
                          </a:solidFill>
                        </a:defRPr>
                      </a:pPr>
                      <a:r>
                        <a:rPr sz="1300" b="0">
                          <a:solidFill>
                            <a:srgbClr val="DDDDDD"/>
                          </a:solidFill>
                        </a:rPr>
                        <a:t>ferramentas_jardim</a:t>
                      </a:r>
                    </a:p>
                  </a:txBody>
                  <a:tcPr/>
                </a:tc>
                <a:tc>
                  <a:txBody>
                    <a:bodyPr/>
                    <a:lstStyle/>
                    <a:p>
                      <a:pPr>
                        <a:defRPr sz="1300">
                          <a:solidFill>
                            <a:srgbClr val="DDDDDD"/>
                          </a:solidFill>
                        </a:defRPr>
                      </a:pPr>
                      <a:r>
                        <a:rPr sz="1300" b="0">
                          <a:solidFill>
                            <a:srgbClr val="DDDDDD"/>
                          </a:solidFill>
                        </a:rPr>
                        <a:t>R$ 604,316</a:t>
                      </a:r>
                    </a:p>
                  </a:txBody>
                  <a:tcPr/>
                </a:tc>
                <a:tc>
                  <a:txBody>
                    <a:bodyPr/>
                    <a:lstStyle/>
                    <a:p>
                      <a:pPr>
                        <a:defRPr sz="1300">
                          <a:solidFill>
                            <a:srgbClr val="DDDDDD"/>
                          </a:solidFill>
                        </a:defRPr>
                      </a:pPr>
                      <a:r>
                        <a:rPr sz="1300" b="0">
                          <a:solidFill>
                            <a:srgbClr val="DDDDDD"/>
                          </a:solidFill>
                        </a:rPr>
                        <a:t>3537</a:t>
                      </a:r>
                    </a:p>
                  </a:txBody>
                  <a:tcPr/>
                </a:tc>
                <a:tc>
                  <a:txBody>
                    <a:bodyPr/>
                    <a:lstStyle/>
                    <a:p>
                      <a:pPr>
                        <a:defRPr sz="1300">
                          <a:solidFill>
                            <a:srgbClr val="DDDDDD"/>
                          </a:solidFill>
                        </a:defRPr>
                      </a:pPr>
                      <a:r>
                        <a:rPr sz="1300" b="0">
                          <a:solidFill>
                            <a:srgbClr val="DDDDDD"/>
                          </a:solidFill>
                        </a:rPr>
                        <a:t>R$ 119.62</a:t>
                      </a:r>
                    </a:p>
                  </a:txBody>
                  <a:tcPr/>
                </a:tc>
                <a:tc>
                  <a:txBody>
                    <a:bodyPr/>
                    <a:lstStyle/>
                    <a:p>
                      <a:pPr>
                        <a:defRPr sz="1300">
                          <a:solidFill>
                            <a:srgbClr val="DDDDDD"/>
                          </a:solidFill>
                        </a:defRPr>
                      </a:pPr>
                      <a:r>
                        <a:rPr sz="1300" b="0">
                          <a:solidFill>
                            <a:srgbClr val="DDDDDD"/>
                          </a:solidFill>
                        </a:rPr>
                        <a:t>4.2</a:t>
                      </a:r>
                    </a:p>
                  </a:txBody>
                  <a:tcPr/>
                </a:tc>
                <a:tc>
                  <a:txBody>
                    <a:bodyPr/>
                    <a:lstStyle/>
                    <a:p>
                      <a:pPr>
                        <a:defRPr sz="1300">
                          <a:solidFill>
                            <a:srgbClr val="DDDDDD"/>
                          </a:solidFill>
                        </a:defRPr>
                      </a:pPr>
                      <a:r>
                        <a:rPr sz="1300" b="0">
                          <a:solidFill>
                            <a:srgbClr val="DDDDDD"/>
                          </a:solidFill>
                        </a:rPr>
                        <a:t>3.7%</a:t>
                      </a:r>
                    </a:p>
                  </a:txBody>
                  <a:tcPr/>
                </a:tc>
              </a:tr>
            </a:tbl>
          </a:graphicData>
        </a:graphic>
      </p:graphicFrame>
      <p:sp>
        <p:nvSpPr>
          <p:cNvPr id="5" name="Rounded Rectangle 4"/>
          <p:cNvSpPr/>
          <p:nvPr/>
        </p:nvSpPr>
        <p:spPr>
          <a:xfrm>
            <a:off x="457200" y="5303520"/>
            <a:ext cx="8229600" cy="1188720"/>
          </a:xfrm>
          <a:prstGeom prst="roundRect">
            <a:avLst/>
          </a:prstGeom>
          <a:solidFill>
            <a:srgbClr val="222244"/>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394960"/>
            <a:ext cx="7863840" cy="1005840"/>
          </a:xfrm>
          <a:prstGeom prst="rect">
            <a:avLst/>
          </a:prstGeom>
          <a:noFill/>
        </p:spPr>
        <p:txBody>
          <a:bodyPr wrap="square">
            <a:spAutoFit/>
          </a:bodyPr>
          <a:lstStyle/>
          <a:p>
            <a:pPr>
              <a:defRPr sz="1500">
                <a:solidFill>
                  <a:srgbClr val="DDDDDD"/>
                </a:solidFill>
              </a:defRPr>
            </a:pPr>
            <a:r>
              <a:rPr sz="1500" b="0">
                <a:solidFill>
                  <a:srgbClr val="DDDDDD"/>
                </a:solidFill>
              </a:rPr>
              <a:t>La categorie leader est 'beleza_saude' avec 8.9% des revenus. Les prix moyens varient considerablement entre les categories, allant de quelques dizaines a plusieurs centaines de R$. La satisfaction est generalement bonne dans toutes les categories.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097280"/>
            <a:ext cx="109728" cy="5029200"/>
          </a:xfrm>
          <a:prstGeom prst="rect">
            <a:avLst/>
          </a:prstGeom>
          <a:solidFill>
            <a:srgbClr val="00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7772400" cy="914400"/>
          </a:xfrm>
          <a:prstGeom prst="rect">
            <a:avLst/>
          </a:prstGeom>
          <a:noFill/>
        </p:spPr>
        <p:txBody>
          <a:bodyPr wrap="square">
            <a:spAutoFit/>
          </a:bodyPr>
          <a:lstStyle/>
          <a:p>
            <a:pPr>
              <a:defRPr sz="3200" b="1">
                <a:solidFill>
                  <a:srgbClr val="FFFFFF"/>
                </a:solidFill>
              </a:defRPr>
            </a:pPr>
            <a:r>
              <a:rPr sz="3200" b="1">
                <a:solidFill>
                  <a:srgbClr val="FFFFFF"/>
                </a:solidFill>
              </a:rPr>
              <a:t>Conclusions Principales</a:t>
            </a:r>
          </a:p>
        </p:txBody>
      </p:sp>
      <p:sp>
        <p:nvSpPr>
          <p:cNvPr id="5" name="TextBox 4"/>
          <p:cNvSpPr txBox="1"/>
          <p:nvPr/>
        </p:nvSpPr>
        <p:spPr>
          <a:xfrm>
            <a:off x="822960" y="1645920"/>
            <a:ext cx="7772400" cy="4572000"/>
          </a:xfrm>
          <a:prstGeom prst="rect">
            <a:avLst/>
          </a:prstGeom>
          <a:noFill/>
        </p:spPr>
        <p:txBody>
          <a:bodyPr wrap="square">
            <a:spAutoFit/>
          </a:bodyPr>
          <a:lstStyle/>
          <a:p>
            <a:pPr>
              <a:spcAft>
                <a:spcPts val="1400"/>
              </a:spcAft>
              <a:defRPr sz="2000">
                <a:solidFill>
                  <a:srgbClr val="DDDDDD"/>
                </a:solidFill>
              </a:defRPr>
            </a:pPr>
            <a:r>
              <a:rPr sz="2000" b="0">
                <a:solidFill>
                  <a:srgbClr val="DDDDDD"/>
                </a:solidFill>
              </a:rPr>
              <a:t>Concentration regionale: SP represente 36.2% du revenu total, montrant une forte dependance geographique.</a:t>
            </a:r>
          </a:p>
          <a:p>
            <a:pPr>
              <a:spcAft>
                <a:spcPts val="1400"/>
              </a:spcAft>
              <a:defRPr sz="2000">
                <a:solidFill>
                  <a:srgbClr val="DDDDDD"/>
                </a:solidFill>
              </a:defRPr>
            </a:pPr>
            <a:r>
              <a:rPr sz="2000" b="0">
                <a:solidFill>
                  <a:srgbClr val="DDDDDD"/>
                </a:solidFill>
              </a:rPr>
              <a:t>Croissance: La croissance de 1.2% entre les deux moitiees de la periode indique un marche en expansion.</a:t>
            </a:r>
          </a:p>
          <a:p>
            <a:pPr>
              <a:spcAft>
                <a:spcPts val="1400"/>
              </a:spcAft>
              <a:defRPr sz="2000">
                <a:solidFill>
                  <a:srgbClr val="DDDDDD"/>
                </a:solidFill>
              </a:defRPr>
            </a:pPr>
            <a:r>
              <a:rPr sz="2000" b="0">
                <a:solidFill>
                  <a:srgbClr val="DDDDDD"/>
                </a:solidFill>
              </a:rPr>
              <a:t>Paiement: La carte de credit domine avec 78.5%, refletant les habitudes de consommation bresiliennes.</a:t>
            </a:r>
          </a:p>
          <a:p>
            <a:pPr>
              <a:spcAft>
                <a:spcPts val="1400"/>
              </a:spcAft>
              <a:defRPr sz="2000">
                <a:solidFill>
                  <a:srgbClr val="DDDDDD"/>
                </a:solidFill>
              </a:defRPr>
            </a:pPr>
            <a:r>
              <a:rPr sz="2000" b="0">
                <a:solidFill>
                  <a:srgbClr val="DDDDDD"/>
                </a:solidFill>
              </a:rPr>
              <a:t>Satisfaction: 78.2% des clients donnent une note &gt;= 4/5, indiquant une bonne qualite de service.</a:t>
            </a:r>
          </a:p>
          <a:p>
            <a:pPr>
              <a:spcAft>
                <a:spcPts val="1400"/>
              </a:spcAft>
              <a:defRPr sz="2000">
                <a:solidFill>
                  <a:srgbClr val="DDDDDD"/>
                </a:solidFill>
              </a:defRPr>
            </a:pPr>
            <a:r>
              <a:rPr sz="2000" b="0">
                <a:solidFill>
                  <a:srgbClr val="DDDDDD"/>
                </a:solidFill>
              </a:rPr>
              <a:t>Correlation Prix-Fret: r = 0.418, relation significative entre prix et frais de port.</a:t>
            </a:r>
          </a:p>
          <a:p>
            <a:pPr>
              <a:spcAft>
                <a:spcPts val="1400"/>
              </a:spcAft>
              <a:defRPr sz="2000">
                <a:solidFill>
                  <a:srgbClr val="DDDDDD"/>
                </a:solidFill>
              </a:defRPr>
            </a:pPr>
            <a:r>
              <a:rPr sz="2000" b="0">
                <a:solidFill>
                  <a:srgbClr val="DDDDDD"/>
                </a:solidFill>
              </a:rPr>
              <a:t>Concentration urbaine: sao paulo et les grandes villes generent une part disproportionnee des revenus.</a:t>
            </a:r>
          </a:p>
          <a:p>
            <a:pPr>
              <a:spcAft>
                <a:spcPts val="1400"/>
              </a:spcAft>
              <a:defRPr sz="2000">
                <a:solidFill>
                  <a:srgbClr val="DDDDDD"/>
                </a:solidFill>
              </a:defRPr>
            </a:pPr>
            <a:r>
              <a:rPr sz="2000" b="0">
                <a:solidFill>
                  <a:srgbClr val="DDDDDD"/>
                </a:solidFill>
              </a:rPr>
              <a:t>Diversification: 74 categories offrent de nombreuses opportunites de developpement.</a:t>
            </a:r>
          </a:p>
          <a:p>
            <a:pPr>
              <a:spcAft>
                <a:spcPts val="1400"/>
              </a:spcAft>
              <a:defRPr sz="2000">
                <a:solidFill>
                  <a:srgbClr val="DDDDDD"/>
                </a:solidFill>
              </a:defRPr>
            </a:pPr>
            <a:r>
              <a:rPr sz="2000" b="0">
                <a:solidFill>
                  <a:srgbClr val="DDDDDD"/>
                </a:solidFill>
              </a:rPr>
              <a:t>Distribution asymetrique: La majorite des commandes sont de petite valeur, avec quelques commandes de grande valeur.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097280"/>
            <a:ext cx="109728" cy="5029200"/>
          </a:xfrm>
          <a:prstGeom prst="rect">
            <a:avLst/>
          </a:prstGeom>
          <a:solidFill>
            <a:srgbClr val="00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7772400" cy="914400"/>
          </a:xfrm>
          <a:prstGeom prst="rect">
            <a:avLst/>
          </a:prstGeom>
          <a:noFill/>
        </p:spPr>
        <p:txBody>
          <a:bodyPr wrap="square">
            <a:spAutoFit/>
          </a:bodyPr>
          <a:lstStyle/>
          <a:p>
            <a:pPr>
              <a:defRPr sz="3200" b="1">
                <a:solidFill>
                  <a:srgbClr val="FFFFFF"/>
                </a:solidFill>
              </a:defRPr>
            </a:pPr>
            <a:r>
              <a:rPr sz="3200" b="1">
                <a:solidFill>
                  <a:srgbClr val="FFFFFF"/>
                </a:solidFill>
              </a:rPr>
              <a:t>Recommandations Strategiques</a:t>
            </a:r>
          </a:p>
        </p:txBody>
      </p:sp>
      <p:sp>
        <p:nvSpPr>
          <p:cNvPr id="5" name="TextBox 4"/>
          <p:cNvSpPr txBox="1"/>
          <p:nvPr/>
        </p:nvSpPr>
        <p:spPr>
          <a:xfrm>
            <a:off x="822960" y="1645920"/>
            <a:ext cx="7772400" cy="4572000"/>
          </a:xfrm>
          <a:prstGeom prst="rect">
            <a:avLst/>
          </a:prstGeom>
          <a:noFill/>
        </p:spPr>
        <p:txBody>
          <a:bodyPr wrap="square">
            <a:spAutoFit/>
          </a:bodyPr>
          <a:lstStyle/>
          <a:p>
            <a:pPr>
              <a:spcAft>
                <a:spcPts val="1400"/>
              </a:spcAft>
              <a:defRPr sz="2000">
                <a:solidFill>
                  <a:srgbClr val="DDDDDD"/>
                </a:solidFill>
              </a:defRPr>
            </a:pPr>
            <a:r>
              <a:rPr sz="2000" b="0">
                <a:solidFill>
                  <a:srgbClr val="DDDDDD"/>
                </a:solidFill>
              </a:rPr>
              <a:t>Expansion regionale: Cibler les etats sous-performants (nord, nord-est) avec des campagnes marketing localisees.</a:t>
            </a:r>
          </a:p>
          <a:p>
            <a:pPr>
              <a:spcAft>
                <a:spcPts val="1400"/>
              </a:spcAft>
              <a:defRPr sz="2000">
                <a:solidFill>
                  <a:srgbClr val="DDDDDD"/>
                </a:solidFill>
              </a:defRPr>
            </a:pPr>
            <a:r>
              <a:rPr sz="2000" b="0">
                <a:solidFill>
                  <a:srgbClr val="DDDDDD"/>
                </a:solidFill>
              </a:rPr>
              <a:t>Optimisation du fret: Negocier les frais de transport pour reduire le cout moyen du fret et augmenter les marges.</a:t>
            </a:r>
          </a:p>
          <a:p>
            <a:pPr>
              <a:spcAft>
                <a:spcPts val="1400"/>
              </a:spcAft>
              <a:defRPr sz="2000">
                <a:solidFill>
                  <a:srgbClr val="DDDDDD"/>
                </a:solidFill>
              </a:defRPr>
            </a:pPr>
            <a:r>
              <a:rPr sz="2000" b="0">
                <a:solidFill>
                  <a:srgbClr val="DDDDDD"/>
                </a:solidFill>
              </a:rPr>
              <a:t>Diversification des categories: Developper les categories emergentes a forte marge beneficiaire.</a:t>
            </a:r>
          </a:p>
          <a:p>
            <a:pPr>
              <a:spcAft>
                <a:spcPts val="1400"/>
              </a:spcAft>
              <a:defRPr sz="2000">
                <a:solidFill>
                  <a:srgbClr val="DDDDDD"/>
                </a:solidFill>
              </a:defRPr>
            </a:pPr>
            <a:r>
              <a:rPr sz="2000" b="0">
                <a:solidFill>
                  <a:srgbClr val="DDDDDD"/>
                </a:solidFill>
              </a:rPr>
              <a:t>Programme de fidelite: Mettre en place un programme pour retenir les clients satisfaits (note &gt;= 4).</a:t>
            </a:r>
          </a:p>
          <a:p>
            <a:pPr>
              <a:spcAft>
                <a:spcPts val="1400"/>
              </a:spcAft>
              <a:defRPr sz="2000">
                <a:solidFill>
                  <a:srgbClr val="DDDDDD"/>
                </a:solidFill>
              </a:defRPr>
            </a:pPr>
            <a:r>
              <a:rPr sz="2000" b="0">
                <a:solidFill>
                  <a:srgbClr val="DDDDDD"/>
                </a:solidFill>
              </a:rPr>
              <a:t>Paiements alternatifs: Promouvoir le debit et le boleto pour reduire la dependance a la carte de credit.</a:t>
            </a:r>
          </a:p>
          <a:p>
            <a:pPr>
              <a:spcAft>
                <a:spcPts val="1400"/>
              </a:spcAft>
              <a:defRPr sz="2000">
                <a:solidFill>
                  <a:srgbClr val="DDDDDD"/>
                </a:solidFill>
              </a:defRPr>
            </a:pPr>
            <a:r>
              <a:rPr sz="2000" b="0">
                <a:solidFill>
                  <a:srgbClr val="DDDDDD"/>
                </a:solidFill>
              </a:rPr>
              <a:t>Optimisation de la semaine: Concentrer les promotions sur les jours faibles ({min_day}) pour equilibrer les ventes.</a:t>
            </a:r>
          </a:p>
          <a:p>
            <a:pPr>
              <a:spcAft>
                <a:spcPts val="1400"/>
              </a:spcAft>
              <a:defRPr sz="2000">
                <a:solidFill>
                  <a:srgbClr val="DDDDDD"/>
                </a:solidFill>
              </a:defRPr>
            </a:pPr>
            <a:r>
              <a:rPr sz="2000" b="0">
                <a:solidFill>
                  <a:srgbClr val="DDDDDD"/>
                </a:solidFill>
              </a:rPr>
              <a:t>Grandes villes: Renforcer la presence dans les villes moyennes pour reduire la concentration geographique.</a:t>
            </a:r>
          </a:p>
          <a:p>
            <a:pPr>
              <a:spcAft>
                <a:spcPts val="1400"/>
              </a:spcAft>
              <a:defRPr sz="2000">
                <a:solidFill>
                  <a:srgbClr val="DDDDDD"/>
                </a:solidFill>
              </a:defRPr>
            </a:pPr>
            <a:r>
              <a:rPr sz="2000" b="0">
                <a:solidFill>
                  <a:srgbClr val="DDDDDD"/>
                </a:solidFill>
              </a:rPr>
              <a:t>Analyse continue: Suivre les KPIs mensuellement pour detecter les tendances et ajuster la strategie.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097280"/>
            <a:ext cx="109728" cy="5029200"/>
          </a:xfrm>
          <a:prstGeom prst="rect">
            <a:avLst/>
          </a:prstGeom>
          <a:solidFill>
            <a:srgbClr val="00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7772400" cy="914400"/>
          </a:xfrm>
          <a:prstGeom prst="rect">
            <a:avLst/>
          </a:prstGeom>
          <a:noFill/>
        </p:spPr>
        <p:txBody>
          <a:bodyPr wrap="square">
            <a:spAutoFit/>
          </a:bodyPr>
          <a:lstStyle/>
          <a:p>
            <a:pPr>
              <a:defRPr sz="3200" b="1">
                <a:solidFill>
                  <a:srgbClr val="FFFFFF"/>
                </a:solidFill>
              </a:defRPr>
            </a:pPr>
            <a:r>
              <a:rPr sz="3200" b="1">
                <a:solidFill>
                  <a:srgbClr val="FFFFFF"/>
                </a:solidFill>
              </a:rPr>
              <a:t>Source des Donnees et Methodologie</a:t>
            </a:r>
          </a:p>
        </p:txBody>
      </p:sp>
      <p:sp>
        <p:nvSpPr>
          <p:cNvPr id="5" name="TextBox 4"/>
          <p:cNvSpPr txBox="1"/>
          <p:nvPr/>
        </p:nvSpPr>
        <p:spPr>
          <a:xfrm>
            <a:off x="822960" y="1645920"/>
            <a:ext cx="7772400" cy="4572000"/>
          </a:xfrm>
          <a:prstGeom prst="rect">
            <a:avLst/>
          </a:prstGeom>
          <a:noFill/>
        </p:spPr>
        <p:txBody>
          <a:bodyPr wrap="square">
            <a:spAutoFit/>
          </a:bodyPr>
          <a:lstStyle/>
          <a:p>
            <a:pPr>
              <a:spcAft>
                <a:spcPts val="1400"/>
              </a:spcAft>
              <a:defRPr sz="2000">
                <a:solidFill>
                  <a:srgbClr val="DDDDDD"/>
                </a:solidFill>
              </a:defRPr>
            </a:pPr>
            <a:r>
              <a:rPr sz="2000" b="0">
                <a:solidFill>
                  <a:srgbClr val="DDDDDD"/>
                </a:solidFill>
              </a:rPr>
              <a:t>Source: Olist Brazilian E-Commerce Dataset (Kaggle)</a:t>
            </a:r>
          </a:p>
          <a:p>
            <a:pPr>
              <a:spcAft>
                <a:spcPts val="1400"/>
              </a:spcAft>
              <a:defRPr sz="2000">
                <a:solidFill>
                  <a:srgbClr val="DDDDDD"/>
                </a:solidFill>
              </a:defRPr>
            </a:pPr>
            <a:r>
              <a:rPr sz="2000" b="0">
                <a:solidFill>
                  <a:srgbClr val="DDDDDD"/>
                </a:solidFill>
              </a:rPr>
              <a:t>Periode d'analyse: 2016-09-15 a 2018-08-29</a:t>
            </a:r>
          </a:p>
          <a:p>
            <a:pPr>
              <a:spcAft>
                <a:spcPts val="1400"/>
              </a:spcAft>
              <a:defRPr sz="2000">
                <a:solidFill>
                  <a:srgbClr val="DDDDDD"/>
                </a:solidFill>
              </a:defRPr>
            </a:pPr>
            <a:r>
              <a:rPr sz="2000" b="0">
                <a:solidFill>
                  <a:srgbClr val="DDDDDD"/>
                </a:solidFill>
              </a:rPr>
              <a:t>Commandes analysees: 100,196 (livrees uniquement)</a:t>
            </a:r>
          </a:p>
          <a:p>
            <a:pPr>
              <a:spcAft>
                <a:spcPts val="1400"/>
              </a:spcAft>
              <a:defRPr sz="2000">
                <a:solidFill>
                  <a:srgbClr val="DDDDDD"/>
                </a:solidFill>
              </a:defRPr>
            </a:pPr>
            <a:r>
              <a:rPr sz="2000" b="0">
                <a:solidFill>
                  <a:srgbClr val="DDDDDD"/>
                </a:solidFill>
              </a:rPr>
              <a:t>Clients uniques: 93,263</a:t>
            </a:r>
          </a:p>
          <a:p>
            <a:pPr>
              <a:spcAft>
                <a:spcPts val="1400"/>
              </a:spcAft>
              <a:defRPr sz="2000">
                <a:solidFill>
                  <a:srgbClr val="DDDDDD"/>
                </a:solidFill>
              </a:defRPr>
            </a:pPr>
            <a:r>
              <a:rPr sz="2000" b="0">
                <a:solidFill>
                  <a:srgbClr val="DDDDDD"/>
                </a:solidFill>
              </a:rPr>
              <a:t>Categories de produits: 74</a:t>
            </a:r>
          </a:p>
          <a:p>
            <a:pPr>
              <a:spcAft>
                <a:spcPts val="1400"/>
              </a:spcAft>
              <a:defRPr sz="2000">
                <a:solidFill>
                  <a:srgbClr val="DDDDDD"/>
                </a:solidFill>
              </a:defRPr>
            </a:pPr>
            <a:r>
              <a:rPr sz="2000" b="0">
                <a:solidFill>
                  <a:srgbClr val="DDDDDD"/>
                </a:solidFill>
              </a:rPr>
              <a:t>Geographic: 27 etats bresiliens + district federal</a:t>
            </a:r>
          </a:p>
          <a:p>
            <a:pPr>
              <a:spcAft>
                <a:spcPts val="1400"/>
              </a:spcAft>
              <a:defRPr sz="2000">
                <a:solidFill>
                  <a:srgbClr val="DDDDDD"/>
                </a:solidFill>
              </a:defRPr>
            </a:pPr>
            <a:r>
              <a:rPr sz="2000" b="0">
                <a:solidFill>
                  <a:srgbClr val="DDDDDD"/>
                </a:solidFill>
              </a:rPr>
              <a:t>Methodologie: Analyse descriptive, correlation de Pearson, aggrgation temporelle</a:t>
            </a:r>
          </a:p>
          <a:p>
            <a:pPr>
              <a:spcAft>
                <a:spcPts val="1400"/>
              </a:spcAft>
              <a:defRPr sz="2000">
                <a:solidFill>
                  <a:srgbClr val="DDDDDD"/>
                </a:solidFill>
              </a:defRPr>
            </a:pPr>
            <a:r>
              <a:rPr sz="2000" b="0">
                <a:solidFill>
                  <a:srgbClr val="DDDDDD"/>
                </a:solidFill>
              </a:rPr>
              <a:t>Outil: Python (Pandas, Plotly) pour l'analyse et la visualisation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